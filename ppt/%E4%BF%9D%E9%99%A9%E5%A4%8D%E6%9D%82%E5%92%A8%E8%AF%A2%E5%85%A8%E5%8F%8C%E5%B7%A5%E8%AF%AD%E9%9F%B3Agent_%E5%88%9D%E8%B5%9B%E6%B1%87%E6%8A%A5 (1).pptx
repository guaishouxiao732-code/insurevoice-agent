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约15秒：我们构建了一套面向保险复杂咨询的语音Agent，采用快慢思考协同，完整串联全双工交互、RAG检索、条件化推理与安全兜底。系统有真实网页界面和可量化测试。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40秒：系统分为知识层、运行层和状态层。PDF、Excel经解析分块后由BGE生成向量写入FAISS，同时保留页码和行号。用户语音经ASR进入快思考层，完成意图与条件抽取；简单问题走快速路径，复杂问题进入RAG和规则核验。证据与条件决定直接回答、澄清或转人工。SQLite和会话版本机制保证打断后上下文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35秒：用户插话到来时，系统停止旧TTS、取消旧生成任务，保留已经确认的用户条件，并更新context_version，再将新问题送入快慢思考。此前在Chromium公网链路下，点击式语音插话40轮四项同时通过，服务端停止确认P95为56.02毫秒。测试方式是点击开始和结束录音，现场可继续展示持续监听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35秒：系统会主动收集年龄、医保和缴费方式。30岁有医保年缴对应318元；用户更正年龄到35岁后是423元；再变为无医保时是971元；恢复有医保回到423元。数字与2026年年缴费率表逐项一致，界面还能显示来源与高亮条件。证据不足时进入澄清或待人工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45秒：在200题人工逐题审核中，192题通过，准确率96%，比要求的90%高6个百分点。公网端到端语音首响20轮均低于3秒，P95为2.283秒。我们通过TTS首句分段策略，把P95从3.647秒降低37.4%。点击式语音插话链路40轮通过，预设安全兜底13轮通过。完整回答4.777秒为本机文本链路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约15秒：在可落地方面，知识更新不需要重新训练大模型。一次隔离模拟更新中，FAISS索引重建耗时6.388秒。下面我们用三个场景演示语音插话、条件化RAG与来源高亮，以及信息不足时的安全兜底。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48056"/>
            <a:ext cx="1078992" cy="6858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赛道二  /  OPEN-JS-01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保险复杂咨询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02920" y="202082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全双工语音 Agent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30352" y="28620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快慢思考协同 · 条件化RAG · 可追溯安全回答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" y="3703320"/>
            <a:ext cx="5193792" cy="9144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3886200"/>
            <a:ext cx="50292" cy="512064"/>
          </a:xfrm>
          <a:prstGeom prst="rect">
            <a:avLst/>
          </a:prstGeom>
          <a:solidFill>
            <a:srgbClr val="1980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4048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面向既往病史、投保与理赔等复杂咨询，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914400" y="415137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兼顾低延迟交互、条件推理和证据安全。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556248" y="1133856"/>
            <a:ext cx="5111496" cy="356616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pic>
        <p:nvPicPr>
          <p:cNvPr id="14" name="Image 0" descr="/mnt/data/ppt_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1271016"/>
            <a:ext cx="4846320" cy="326440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784080" y="4334256"/>
            <a:ext cx="1600200" cy="283464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430">
            <a:solidFill>
              <a:srgbClr val="E7F5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84664" y="436168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真实系统界面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50840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AI原生达标组合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5522976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AF2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5742432"/>
            <a:ext cx="109728" cy="109728"/>
          </a:xfrm>
          <a:prstGeom prst="ellipse">
            <a:avLst/>
          </a:prstGeom>
          <a:solidFill>
            <a:srgbClr val="3576BD"/>
          </a:solidFill>
          <a:ln w="12700">
            <a:solidFill>
              <a:srgbClr val="3576B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全双工交互</a:t>
            </a:r>
            <a:endParaRPr lang="en-US" sz="1460" dirty="0"/>
          </a:p>
        </p:txBody>
      </p:sp>
      <p:sp>
        <p:nvSpPr>
          <p:cNvPr id="21" name="Text 18"/>
          <p:cNvSpPr/>
          <p:nvPr/>
        </p:nvSpPr>
        <p:spPr>
          <a:xfrm>
            <a:off x="841248" y="5934456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语音插话与上下文更新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3319272" y="5522976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74720" y="5742432"/>
            <a:ext cx="109728" cy="109728"/>
          </a:xfrm>
          <a:prstGeom prst="ellipse">
            <a:avLst/>
          </a:prstGeom>
          <a:solidFill>
            <a:srgbClr val="19806D"/>
          </a:solidFill>
          <a:ln w="12700">
            <a:solidFill>
              <a:srgbClr val="19806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0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460" dirty="0"/>
          </a:p>
        </p:txBody>
      </p:sp>
      <p:sp>
        <p:nvSpPr>
          <p:cNvPr id="25" name="Text 22"/>
          <p:cNvSpPr/>
          <p:nvPr/>
        </p:nvSpPr>
        <p:spPr>
          <a:xfrm>
            <a:off x="3657600" y="5934456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原始条款来源高亮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6135624" y="5522976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AF2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91072" y="5742432"/>
            <a:ext cx="109728" cy="109728"/>
          </a:xfrm>
          <a:prstGeom prst="ellipse">
            <a:avLst/>
          </a:prstGeom>
          <a:solidFill>
            <a:srgbClr val="3576BD"/>
          </a:solidFill>
          <a:ln w="12700">
            <a:solidFill>
              <a:srgbClr val="3576B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73952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条件化推理</a:t>
            </a:r>
            <a:endParaRPr lang="en-US" sz="1460" dirty="0"/>
          </a:p>
        </p:txBody>
      </p:sp>
      <p:sp>
        <p:nvSpPr>
          <p:cNvPr id="29" name="Text 26"/>
          <p:cNvSpPr/>
          <p:nvPr/>
        </p:nvSpPr>
        <p:spPr>
          <a:xfrm>
            <a:off x="6473952" y="5934456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用户状态驱动回答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8951976" y="5522976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07424" y="5742432"/>
            <a:ext cx="109728" cy="109728"/>
          </a:xfrm>
          <a:prstGeom prst="ellipse">
            <a:avLst/>
          </a:prstGeom>
          <a:solidFill>
            <a:srgbClr val="19806D"/>
          </a:solidFill>
          <a:ln w="12700">
            <a:solidFill>
              <a:srgbClr val="19806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90304" y="5623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安全兜底</a:t>
            </a:r>
            <a:endParaRPr lang="en-US" sz="1460" dirty="0"/>
          </a:p>
        </p:txBody>
      </p:sp>
      <p:sp>
        <p:nvSpPr>
          <p:cNvPr id="33" name="Text 30"/>
          <p:cNvSpPr/>
          <p:nvPr/>
        </p:nvSpPr>
        <p:spPr>
          <a:xfrm>
            <a:off x="9290304" y="5934456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澄清与待人工处理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8503920" y="59436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  ·  初赛3分钟汇报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383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快慢思考协同的全双工语音Agent架构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三层模块解耦：知识准备、Agent实时运行、状态与验证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27080" y="411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6483096"/>
            <a:ext cx="11155680" cy="10973"/>
          </a:xfrm>
          <a:prstGeom prst="rect">
            <a:avLst/>
          </a:prstGeom>
          <a:solidFill>
            <a:srgbClr val="DEE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28816"/>
            <a:ext cx="5669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OPEN-JS-01  ·  初赛项目汇报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44200" y="6528816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11155680" cy="996696"/>
          </a:xfrm>
          <a:prstGeom prst="roundRect">
            <a:avLst>
              <a:gd name="adj" fmla="val 11009"/>
            </a:avLst>
          </a:prstGeom>
          <a:solidFill>
            <a:srgbClr val="F5F8FC"/>
          </a:solidFill>
          <a:ln w="11430">
            <a:solidFill>
              <a:srgbClr val="DC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3167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知识与业务支撑层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3136392" y="1325880"/>
            <a:ext cx="193852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081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多格式文档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3246120" y="170992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Excel / MD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84064" y="1691640"/>
            <a:ext cx="100584" cy="0"/>
          </a:xfrm>
          <a:prstGeom prst="line">
            <a:avLst/>
          </a:prstGeom>
          <a:noFill/>
          <a:ln w="13970">
            <a:solidFill>
              <a:srgbClr val="8C9DB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02936" y="1325880"/>
            <a:ext cx="193852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14081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解析清洗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312664" y="170992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 / 行号保留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0608" y="1691640"/>
            <a:ext cx="100584" cy="0"/>
          </a:xfrm>
          <a:prstGeom prst="line">
            <a:avLst/>
          </a:prstGeom>
          <a:noFill/>
          <a:ln w="13970">
            <a:solidFill>
              <a:srgbClr val="8C9DB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9480" y="1325880"/>
            <a:ext cx="193852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14081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BGE向量化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79208" y="170992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420字切片 · 80字重叠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17152" y="1691640"/>
            <a:ext cx="100584" cy="0"/>
          </a:xfrm>
          <a:prstGeom prst="line">
            <a:avLst/>
          </a:prstGeom>
          <a:noFill/>
          <a:ln w="13970">
            <a:solidFill>
              <a:srgbClr val="8C9DB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36024" y="1325880"/>
            <a:ext cx="1938528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14081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FAISS索引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445752" y="170992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元数据溯源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377440"/>
            <a:ext cx="11155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1430">
            <a:solidFill>
              <a:srgbClr val="BFD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2487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Agent运行核心层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58952" y="3054096"/>
            <a:ext cx="1508760" cy="786384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430">
            <a:solidFill>
              <a:srgbClr val="C4D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00400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前端持续监听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3529584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/ WebSocket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87168" y="3054096"/>
            <a:ext cx="1389888" cy="786384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430">
            <a:solidFill>
              <a:srgbClr val="C4D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9464" y="320040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+ ASR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532888" y="3529584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67712" y="3438144"/>
            <a:ext cx="164592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42232" y="3054096"/>
            <a:ext cx="1572768" cy="786384"/>
          </a:xfrm>
          <a:prstGeom prst="roundRect">
            <a:avLst>
              <a:gd name="adj" fmla="val 13953"/>
            </a:avLst>
          </a:prstGeom>
          <a:solidFill>
            <a:srgbClr val="EAF2FC"/>
          </a:solidFill>
          <a:ln w="11430">
            <a:solidFill>
              <a:srgbClr val="C4D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24528" y="320040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快思考层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87952" y="3529584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 / 条件 / 状态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77056" y="3438144"/>
            <a:ext cx="210312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79592" y="2834640"/>
            <a:ext cx="1097280" cy="283464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430">
            <a:solidFill>
              <a:srgbClr val="EAF2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28620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问题路由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42432" y="3438144"/>
            <a:ext cx="292608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35040" y="3438144"/>
            <a:ext cx="0" cy="786384"/>
          </a:xfrm>
          <a:prstGeom prst="line">
            <a:avLst/>
          </a:prstGeom>
          <a:noFill/>
          <a:ln w="19050">
            <a:solidFill>
              <a:srgbClr val="3576BD"/>
            </a:solidFill>
            <a:prstDash val="solid"/>
            <a:headEnd type="none"/>
          </a:ln>
        </p:spPr>
      </p:sp>
      <p:sp>
        <p:nvSpPr>
          <p:cNvPr id="44" name="Shape 42"/>
          <p:cNvSpPr/>
          <p:nvPr/>
        </p:nvSpPr>
        <p:spPr>
          <a:xfrm>
            <a:off x="6035040" y="3236976"/>
            <a:ext cx="429768" cy="0"/>
          </a:xfrm>
          <a:prstGeom prst="line">
            <a:avLst/>
          </a:prstGeom>
          <a:noFill/>
          <a:ln w="20320">
            <a:solidFill>
              <a:srgbClr val="19806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035040" y="4197096"/>
            <a:ext cx="429768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492240" y="2962656"/>
            <a:ext cx="1975104" cy="694944"/>
          </a:xfrm>
          <a:prstGeom prst="roundRect">
            <a:avLst>
              <a:gd name="adj" fmla="val 15789"/>
            </a:avLst>
          </a:prstGeom>
          <a:solidFill>
            <a:srgbClr val="E7F5F1"/>
          </a:solidFill>
          <a:ln w="11430">
            <a:solidFill>
              <a:srgbClr val="B9DB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305409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快速路径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01968" y="3346704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简单问答 · 快速回复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492240" y="3904488"/>
            <a:ext cx="1975104" cy="758952"/>
          </a:xfrm>
          <a:prstGeom prst="roundRect">
            <a:avLst>
              <a:gd name="adj" fmla="val 14458"/>
            </a:avLst>
          </a:prstGeom>
          <a:solidFill>
            <a:srgbClr val="F1EFFF"/>
          </a:solidFill>
          <a:ln w="11430">
            <a:solidFill>
              <a:srgbClr val="D7CE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0256" y="3986784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57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慢思考路径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92824" y="43251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· 规则 · 历史查询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485632" y="3300984"/>
            <a:ext cx="246888" cy="0"/>
          </a:xfrm>
          <a:prstGeom prst="line">
            <a:avLst/>
          </a:prstGeom>
          <a:noFill/>
          <a:ln w="20320">
            <a:solidFill>
              <a:srgbClr val="19806D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613648" y="3300984"/>
            <a:ext cx="0" cy="960120"/>
          </a:xfrm>
          <a:prstGeom prst="line">
            <a:avLst/>
          </a:prstGeom>
          <a:noFill/>
          <a:ln w="15240">
            <a:solidFill>
              <a:srgbClr val="3576BD"/>
            </a:solidFill>
            <a:prstDash val="solid"/>
            <a:headEnd type="none"/>
          </a:ln>
        </p:spPr>
      </p:sp>
      <p:sp>
        <p:nvSpPr>
          <p:cNvPr id="54" name="Shape 52"/>
          <p:cNvSpPr/>
          <p:nvPr/>
        </p:nvSpPr>
        <p:spPr>
          <a:xfrm>
            <a:off x="8485632" y="4270248"/>
            <a:ext cx="246888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823960" y="3310128"/>
            <a:ext cx="1481328" cy="978408"/>
          </a:xfrm>
          <a:prstGeom prst="roundRect">
            <a:avLst>
              <a:gd name="adj" fmla="val 11215"/>
            </a:avLst>
          </a:prstGeom>
          <a:solidFill>
            <a:srgbClr val="EAF2FC"/>
          </a:solidFill>
          <a:ln w="11430">
            <a:solidFill>
              <a:srgbClr val="C4D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4544" y="3520440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</a:t>
            </a:r>
            <a:endParaRPr lang="en-US" sz="1280" dirty="0"/>
          </a:p>
        </p:txBody>
      </p:sp>
      <p:sp>
        <p:nvSpPr>
          <p:cNvPr id="57" name="Text 55"/>
          <p:cNvSpPr/>
          <p:nvPr/>
        </p:nvSpPr>
        <p:spPr>
          <a:xfrm>
            <a:off x="8924544" y="3785616"/>
            <a:ext cx="1243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条件校验</a:t>
            </a:r>
            <a:endParaRPr lang="en-US" sz="1280" dirty="0"/>
          </a:p>
        </p:txBody>
      </p:sp>
      <p:sp>
        <p:nvSpPr>
          <p:cNvPr id="58" name="Shape 56"/>
          <p:cNvSpPr/>
          <p:nvPr/>
        </p:nvSpPr>
        <p:spPr>
          <a:xfrm>
            <a:off x="10332720" y="3803904"/>
            <a:ext cx="219456" cy="0"/>
          </a:xfrm>
          <a:prstGeom prst="line">
            <a:avLst/>
          </a:prstGeom>
          <a:noFill/>
          <a:ln w="20320">
            <a:solidFill>
              <a:srgbClr val="3576BD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579608" y="3310128"/>
            <a:ext cx="877824" cy="978408"/>
          </a:xfrm>
          <a:prstGeom prst="roundRect">
            <a:avLst>
              <a:gd name="adj" fmla="val 12500"/>
            </a:avLst>
          </a:prstGeom>
          <a:solidFill>
            <a:srgbClr val="E7F5F1"/>
          </a:solidFill>
          <a:ln w="11430">
            <a:solidFill>
              <a:srgbClr val="B9DB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61904" y="3456432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</a:t>
            </a:r>
            <a:endParaRPr lang="en-US" sz="1210" dirty="0"/>
          </a:p>
        </p:txBody>
      </p:sp>
      <p:sp>
        <p:nvSpPr>
          <p:cNvPr id="61" name="Text 59"/>
          <p:cNvSpPr/>
          <p:nvPr/>
        </p:nvSpPr>
        <p:spPr>
          <a:xfrm>
            <a:off x="10661904" y="371246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641080" y="4672584"/>
            <a:ext cx="2761488" cy="283464"/>
          </a:xfrm>
          <a:prstGeom prst="roundRect">
            <a:avLst>
              <a:gd name="adj" fmla="val 25806"/>
            </a:avLst>
          </a:prstGeom>
          <a:solidFill>
            <a:srgbClr val="F2F6FB"/>
          </a:solidFill>
          <a:ln w="11430">
            <a:solidFill>
              <a:srgbClr val="F2F6F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41664" y="4700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 · Clarify · Handoff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758952" y="4617720"/>
            <a:ext cx="5285232" cy="502920"/>
          </a:xfrm>
          <a:prstGeom prst="roundRect">
            <a:avLst>
              <a:gd name="adj" fmla="val 21818"/>
            </a:avLst>
          </a:prstGeom>
          <a:solidFill>
            <a:srgbClr val="F4F7FC"/>
          </a:solidFill>
          <a:ln w="11430">
            <a:solidFill>
              <a:srgbClr val="F4F7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4700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用户插话 → 取消旧生成 / TTS → context_version更新 → 重入识别</a:t>
            </a:r>
            <a:endParaRPr lang="en-US" sz="1040" dirty="0"/>
          </a:p>
        </p:txBody>
      </p:sp>
      <p:sp>
        <p:nvSpPr>
          <p:cNvPr id="66" name="Shape 64"/>
          <p:cNvSpPr/>
          <p:nvPr/>
        </p:nvSpPr>
        <p:spPr>
          <a:xfrm>
            <a:off x="502920" y="5577840"/>
            <a:ext cx="11155680" cy="713232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4088" y="5696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状态与验证层</a:t>
            </a:r>
            <a:endParaRPr lang="en-US" sz="1340" dirty="0"/>
          </a:p>
        </p:txBody>
      </p:sp>
      <p:sp>
        <p:nvSpPr>
          <p:cNvPr id="68" name="Text 66"/>
          <p:cNvSpPr/>
          <p:nvPr/>
        </p:nvSpPr>
        <p:spPr>
          <a:xfrm>
            <a:off x="3182112" y="572414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SQLite会话  ·  context_version  ·  任务取消  ·  ASR / RAG / 首响日志  ·  来源校验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383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自然语音插话与上下文一致性保障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持续语音交互、旧任务统一取消、上下文保留与新问题重路由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27080" y="411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6483096"/>
            <a:ext cx="11155680" cy="10973"/>
          </a:xfrm>
          <a:prstGeom prst="rect">
            <a:avLst/>
          </a:prstGeom>
          <a:solidFill>
            <a:srgbClr val="DEE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28816"/>
            <a:ext cx="5669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OPEN-JS-01  ·  初赛项目汇报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44200" y="6528816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12648" y="1271016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用户插话的处理时间线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6812280" cy="3410712"/>
          </a:xfrm>
          <a:prstGeom prst="roundRect">
            <a:avLst>
              <a:gd name="adj" fmla="val 3217"/>
            </a:avLst>
          </a:prstGeom>
          <a:solidFill>
            <a:srgbClr val="F8FAFD"/>
          </a:solidFill>
          <a:ln w="11430">
            <a:solidFill>
              <a:srgbClr val="DFE8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93392"/>
            <a:ext cx="310896" cy="310896"/>
          </a:xfrm>
          <a:prstGeom prst="ellipse">
            <a:avLst/>
          </a:prstGeom>
          <a:solidFill>
            <a:srgbClr val="3576BD"/>
          </a:solidFill>
          <a:ln w="12700">
            <a:solidFill>
              <a:srgbClr val="3576B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0253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71016" y="1892808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Agent流式播报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1271016" y="22311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旧回答正在通过TTS播放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32688" y="2313432"/>
            <a:ext cx="0" cy="320040"/>
          </a:xfrm>
          <a:prstGeom prst="line">
            <a:avLst/>
          </a:prstGeom>
          <a:noFill/>
          <a:ln w="30480">
            <a:solidFill>
              <a:srgbClr val="B9CEE2"/>
            </a:solidFill>
            <a:prstDash val="solid"/>
            <a:headEnd type="none"/>
          </a:ln>
        </p:spPr>
      </p:sp>
      <p:sp>
        <p:nvSpPr>
          <p:cNvPr id="17" name="Shape 15"/>
          <p:cNvSpPr/>
          <p:nvPr/>
        </p:nvSpPr>
        <p:spPr>
          <a:xfrm>
            <a:off x="777240" y="2770632"/>
            <a:ext cx="310896" cy="310896"/>
          </a:xfrm>
          <a:prstGeom prst="ellipse">
            <a:avLst/>
          </a:prstGeom>
          <a:solidFill>
            <a:srgbClr val="D59A43"/>
          </a:solidFill>
          <a:ln w="12700">
            <a:solidFill>
              <a:srgbClr val="D59A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77977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71016" y="2670048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用户插话触发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1271016" y="300837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中止旧音频，并接收新的用户语音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32688" y="3090672"/>
            <a:ext cx="0" cy="320040"/>
          </a:xfrm>
          <a:prstGeom prst="line">
            <a:avLst/>
          </a:prstGeom>
          <a:noFill/>
          <a:ln w="30480">
            <a:solidFill>
              <a:srgbClr val="B9CEE2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777240" y="3547872"/>
            <a:ext cx="310896" cy="310896"/>
          </a:xfrm>
          <a:prstGeom prst="ellipse">
            <a:avLst/>
          </a:prstGeom>
          <a:solidFill>
            <a:srgbClr val="3576BD"/>
          </a:solidFill>
          <a:ln w="12700">
            <a:solidFill>
              <a:srgbClr val="3576B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5701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71016" y="3447288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状态与任务更新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1271016" y="37856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取消旧任务，保留已确认的条件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32688" y="3867912"/>
            <a:ext cx="0" cy="320040"/>
          </a:xfrm>
          <a:prstGeom prst="line">
            <a:avLst/>
          </a:prstGeom>
          <a:noFill/>
          <a:ln w="30480">
            <a:solidFill>
              <a:srgbClr val="B9CEE2"/>
            </a:solidFill>
            <a:prstDash val="solid"/>
            <a:headEnd type="none"/>
          </a:ln>
        </p:spPr>
      </p:sp>
      <p:sp>
        <p:nvSpPr>
          <p:cNvPr id="27" name="Shape 25"/>
          <p:cNvSpPr/>
          <p:nvPr/>
        </p:nvSpPr>
        <p:spPr>
          <a:xfrm>
            <a:off x="777240" y="4325112"/>
            <a:ext cx="310896" cy="310896"/>
          </a:xfrm>
          <a:prstGeom prst="ellipse">
            <a:avLst/>
          </a:prstGeom>
          <a:solidFill>
            <a:srgbClr val="19806D"/>
          </a:solidFill>
          <a:ln w="12700">
            <a:solidFill>
              <a:srgbClr val="1980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3425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71016" y="4224528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重新识别与应答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1271016" y="45628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→ 快慢思考路由 → 新语音回答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635240" y="127101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核心工程机制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07808" y="1700784"/>
            <a:ext cx="4069080" cy="713232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7808" y="1700784"/>
            <a:ext cx="54864" cy="713232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178308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语音输入管理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7863840" y="2066544"/>
            <a:ext cx="3593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VAD检测与新意图识别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7607808" y="2560320"/>
            <a:ext cx="4069080" cy="713232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7808" y="2560320"/>
            <a:ext cx="54864" cy="713232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2642616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统一任务取消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7863840" y="2926080"/>
            <a:ext cx="3593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停止旧生成和未播完TTS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7607808" y="3419856"/>
            <a:ext cx="4069080" cy="713232"/>
          </a:xfrm>
          <a:prstGeom prst="roundRect">
            <a:avLst>
              <a:gd name="adj" fmla="val 15385"/>
            </a:avLst>
          </a:prstGeom>
          <a:solidFill>
            <a:srgbClr val="EAF2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7808" y="3419856"/>
            <a:ext cx="54864" cy="713232"/>
          </a:xfrm>
          <a:prstGeom prst="rect">
            <a:avLst/>
          </a:prstGeom>
          <a:solidFill>
            <a:srgbClr val="1980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3502152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上下文版本管理</a:t>
            </a:r>
            <a:endParaRPr lang="en-US" sz="1370" dirty="0"/>
          </a:p>
        </p:txBody>
      </p:sp>
      <p:sp>
        <p:nvSpPr>
          <p:cNvPr id="43" name="Text 41"/>
          <p:cNvSpPr/>
          <p:nvPr/>
        </p:nvSpPr>
        <p:spPr>
          <a:xfrm>
            <a:off x="7863840" y="3785616"/>
            <a:ext cx="3593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context_version防状态混乱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7607808" y="4279392"/>
            <a:ext cx="4069080" cy="713232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07808" y="4279392"/>
            <a:ext cx="54864" cy="713232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0" y="4361688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状态复用</a:t>
            </a:r>
            <a:endParaRPr lang="en-US" sz="1370" dirty="0"/>
          </a:p>
        </p:txBody>
      </p:sp>
      <p:sp>
        <p:nvSpPr>
          <p:cNvPr id="47" name="Text 45"/>
          <p:cNvSpPr/>
          <p:nvPr/>
        </p:nvSpPr>
        <p:spPr>
          <a:xfrm>
            <a:off x="7863840" y="4645152"/>
            <a:ext cx="3593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保留医保 / 年龄等有效条件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502920" y="5367528"/>
            <a:ext cx="36118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5468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2011680" y="55412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点击式语音插话链路完整通过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4288536" y="5367528"/>
            <a:ext cx="36118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53128" y="5468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56.02 ms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5797296" y="55412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服务端停止确认 P95</a:t>
            </a:r>
            <a:endParaRPr lang="en-US" sz="1040" dirty="0"/>
          </a:p>
        </p:txBody>
      </p:sp>
      <p:sp>
        <p:nvSpPr>
          <p:cNvPr id="54" name="Shape 52"/>
          <p:cNvSpPr/>
          <p:nvPr/>
        </p:nvSpPr>
        <p:spPr>
          <a:xfrm>
            <a:off x="8074152" y="5367528"/>
            <a:ext cx="361188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5468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2300" dirty="0"/>
          </a:p>
        </p:txBody>
      </p:sp>
      <p:sp>
        <p:nvSpPr>
          <p:cNvPr id="56" name="Text 54"/>
          <p:cNvSpPr/>
          <p:nvPr/>
        </p:nvSpPr>
        <p:spPr>
          <a:xfrm>
            <a:off x="9582912" y="55412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打断后上下文续问通过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585216" y="6236208"/>
            <a:ext cx="10972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注：40轮测试为“点击录音开始插话、再次点击结束发送”，不等同于免点击真人语音打断验收。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383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条件化推理与RAG证据追溯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真实多轮费率咨询：同一会话条件变化，答案同步更新且能定位来源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27080" y="411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6483096"/>
            <a:ext cx="11155680" cy="10973"/>
          </a:xfrm>
          <a:prstGeom prst="rect">
            <a:avLst/>
          </a:prstGeom>
          <a:solidFill>
            <a:srgbClr val="DEE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28816"/>
            <a:ext cx="5669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OPEN-JS-01  ·  初赛项目汇报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44200" y="6528816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76072" y="1234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多轮条件动态更新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4050792" cy="905256"/>
          </a:xfrm>
          <a:prstGeom prst="roundRect">
            <a:avLst>
              <a:gd name="adj" fmla="val 12121"/>
            </a:avLst>
          </a:prstGeom>
          <a:solidFill>
            <a:srgbClr val="EAF2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28216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初始：30岁 · 有医保 · 年缴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777240" y="204825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318元 / 年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2587752" y="2551176"/>
            <a:ext cx="0" cy="201168"/>
          </a:xfrm>
          <a:prstGeom prst="line">
            <a:avLst/>
          </a:prstGeom>
          <a:noFill/>
          <a:ln w="16510">
            <a:solidFill>
              <a:srgbClr val="8C9DB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788920"/>
            <a:ext cx="4050792" cy="905256"/>
          </a:xfrm>
          <a:prstGeom prst="roundRect">
            <a:avLst>
              <a:gd name="adj" fmla="val 12121"/>
            </a:avLst>
          </a:prstGeom>
          <a:solidFill>
            <a:srgbClr val="EFF5FE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16936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年龄更新：35岁 · 有医保 · 年缴</a:t>
            </a:r>
            <a:endParaRPr lang="en-US" sz="1290" dirty="0"/>
          </a:p>
        </p:txBody>
      </p:sp>
      <p:sp>
        <p:nvSpPr>
          <p:cNvPr id="17" name="Text 15"/>
          <p:cNvSpPr/>
          <p:nvPr/>
        </p:nvSpPr>
        <p:spPr>
          <a:xfrm>
            <a:off x="777240" y="32369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423元 / 年</a:t>
            </a:r>
            <a:endParaRPr lang="en-US" sz="2150" dirty="0"/>
          </a:p>
        </p:txBody>
      </p:sp>
      <p:sp>
        <p:nvSpPr>
          <p:cNvPr id="18" name="Shape 16"/>
          <p:cNvSpPr/>
          <p:nvPr/>
        </p:nvSpPr>
        <p:spPr>
          <a:xfrm>
            <a:off x="2587752" y="3739896"/>
            <a:ext cx="0" cy="201168"/>
          </a:xfrm>
          <a:prstGeom prst="line">
            <a:avLst/>
          </a:prstGeom>
          <a:noFill/>
          <a:ln w="16510">
            <a:solidFill>
              <a:srgbClr val="8C9DB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977640"/>
            <a:ext cx="4050792" cy="905256"/>
          </a:xfrm>
          <a:prstGeom prst="roundRect">
            <a:avLst>
              <a:gd name="adj" fmla="val 12121"/>
            </a:avLst>
          </a:prstGeom>
          <a:solidFill>
            <a:srgbClr val="E7F5F1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05656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医保更新：35岁 · 无医保 · 年缴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777240" y="44256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971元 / 年</a:t>
            </a:r>
            <a:endParaRPr lang="en-US" sz="21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3904488" cy="283464"/>
          </a:xfrm>
          <a:prstGeom prst="roundRect">
            <a:avLst>
              <a:gd name="adj" fmla="val 25806"/>
            </a:avLst>
          </a:prstGeom>
          <a:solidFill>
            <a:srgbClr val="F4F7FC"/>
          </a:solidFill>
          <a:ln w="11430">
            <a:solidFill>
              <a:srgbClr val="F4F7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恢复“有医保”后，再次返回 423元 / 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55464" y="1600200"/>
            <a:ext cx="2953512" cy="4142232"/>
          </a:xfrm>
          <a:prstGeom prst="roundRect">
            <a:avLst>
              <a:gd name="adj" fmla="val 3715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76479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保费与原始表格逐项匹配</a:t>
            </a:r>
            <a:endParaRPr lang="en-US" sz="1370" dirty="0"/>
          </a:p>
        </p:txBody>
      </p:sp>
      <p:sp>
        <p:nvSpPr>
          <p:cNvPr id="26" name="Text 24"/>
          <p:cNvSpPr/>
          <p:nvPr/>
        </p:nvSpPr>
        <p:spPr>
          <a:xfrm>
            <a:off x="5029200" y="225856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《尊享e生百万医疗2026年缴费率.pdf》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38344" y="2834640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430">
            <a:solidFill>
              <a:srgbClr val="EAF2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86207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第1页  ·  年缴费率表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047488" y="3310128"/>
            <a:ext cx="2569464" cy="347472"/>
          </a:xfrm>
          <a:prstGeom prst="rect">
            <a:avLst/>
          </a:prstGeom>
          <a:solidFill>
            <a:srgbClr val="EAF1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3924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25312" y="339242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有医保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93992" y="339242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无医保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7488" y="3694176"/>
            <a:ext cx="256946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80390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26—30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5998464" y="3803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318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6931152" y="3803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679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5047488" y="4096512"/>
            <a:ext cx="2569464" cy="466344"/>
          </a:xfrm>
          <a:prstGeom prst="rect">
            <a:avLst/>
          </a:prstGeom>
          <a:solidFill>
            <a:srgbClr val="E5F2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42519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31—35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98464" y="425196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25196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65776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证据与回答匹配：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65776" y="5120640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 · 费率值 · 原始文件/页码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074152" y="1600200"/>
            <a:ext cx="3621024" cy="4142232"/>
          </a:xfrm>
          <a:prstGeom prst="roundRect">
            <a:avLst>
              <a:gd name="adj" fmla="val 3030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175564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真实界面：来源高亮与定位</a:t>
            </a:r>
            <a:endParaRPr lang="en-US" sz="1330" dirty="0"/>
          </a:p>
        </p:txBody>
      </p:sp>
      <p:pic>
        <p:nvPicPr>
          <p:cNvPr id="45" name="Image 0" descr="/mnt/data/ppt_assets/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2112264"/>
            <a:ext cx="2624328" cy="347472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8476488" y="5340096"/>
            <a:ext cx="2496312" cy="283464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430">
            <a:solidFill>
              <a:srgbClr val="E7F5F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77072" y="536752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依据检索截图</a:t>
            </a:r>
            <a:endParaRPr lang="en-US" sz="960" dirty="0"/>
          </a:p>
        </p:txBody>
      </p:sp>
      <p:sp>
        <p:nvSpPr>
          <p:cNvPr id="48" name="Shape 45"/>
          <p:cNvSpPr/>
          <p:nvPr/>
        </p:nvSpPr>
        <p:spPr>
          <a:xfrm>
            <a:off x="566928" y="5870448"/>
            <a:ext cx="11119104" cy="347472"/>
          </a:xfrm>
          <a:prstGeom prst="roundRect">
            <a:avLst>
              <a:gd name="adj" fmla="val 31579"/>
            </a:avLst>
          </a:prstGeom>
          <a:solidFill>
            <a:srgbClr val="F4F7FC"/>
          </a:solidFill>
          <a:ln w="11430">
            <a:solidFill>
              <a:srgbClr val="F4F7F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1248" y="591616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安全决策：  Answer（证据充分）    /    Clarify（条件缺失）    /    Handoff（证据不足，待人工处理）</a:t>
            </a:r>
            <a:endParaRPr lang="en-US" sz="11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383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OKR实测验证：准确性、首响与可靠性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200题人工逐题审核 + 公网端到端语音测试 + 插话与安全专项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27080" y="411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6483096"/>
            <a:ext cx="11155680" cy="10973"/>
          </a:xfrm>
          <a:prstGeom prst="rect">
            <a:avLst/>
          </a:prstGeom>
          <a:solidFill>
            <a:srgbClr val="DEE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28816"/>
            <a:ext cx="5669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OPEN-JS-01  ·  初赛项目汇报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44200" y="6528816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02920" y="1289304"/>
            <a:ext cx="3986784" cy="3008376"/>
          </a:xfrm>
          <a:prstGeom prst="roundRect">
            <a:avLst>
              <a:gd name="adj" fmla="val 3647"/>
            </a:avLst>
          </a:prstGeom>
          <a:solidFill>
            <a:srgbClr val="EAF2FC"/>
          </a:solidFill>
          <a:ln w="11430">
            <a:solidFill>
              <a:srgbClr val="D6E7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2704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复杂咨询人工审核通过率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901952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96%</a:t>
            </a:r>
            <a:endParaRPr lang="en-US" sz="53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 / 200题通过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10128"/>
            <a:ext cx="3383280" cy="155448"/>
          </a:xfrm>
          <a:prstGeom prst="rect">
            <a:avLst/>
          </a:prstGeom>
          <a:solidFill>
            <a:srgbClr val="D9E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10128"/>
            <a:ext cx="3247949" cy="155448"/>
          </a:xfrm>
          <a:prstGeom prst="rect">
            <a:avLst/>
          </a:prstGeom>
          <a:solidFill>
            <a:srgbClr val="1980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64845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官方门槛 ≥90%  ·  超出6个百分点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681728" y="1289304"/>
            <a:ext cx="3273552" cy="3008376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545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端到端语音首响 P95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2.283s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4937760" y="2916936"/>
            <a:ext cx="2441448" cy="283464"/>
          </a:xfrm>
          <a:prstGeom prst="roundRect">
            <a:avLst>
              <a:gd name="adj" fmla="val 25806"/>
            </a:avLst>
          </a:prstGeom>
          <a:solidFill>
            <a:srgbClr val="E7F5F1"/>
          </a:solidFill>
          <a:ln w="11430">
            <a:solidFill>
              <a:srgbClr val="E7F5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29443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20次 ≤3秒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34107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Chromium · 公网隧道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73075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录完发送 → ASR → 回答 → TTS播放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47304" y="1289304"/>
            <a:ext cx="3529584" cy="905256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14264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829800" y="1463040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点击式语音插话完整通过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147304" y="2308860"/>
            <a:ext cx="3529584" cy="905256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24460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829800" y="2482596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预设安全兜底通过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147304" y="3328416"/>
            <a:ext cx="3529584" cy="905256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4655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4.777s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829800" y="3502152"/>
            <a:ext cx="1655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4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慢题完整回答P95*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02920" y="4498848"/>
            <a:ext cx="11173968" cy="1517904"/>
          </a:xfrm>
          <a:prstGeom prst="roundRect">
            <a:avLst>
              <a:gd name="adj" fmla="val 7229"/>
            </a:avLst>
          </a:prstGeom>
          <a:solidFill>
            <a:srgbClr val="F4F7FC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62686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工程优化：端到端语音首响P95</a:t>
            </a:r>
            <a:endParaRPr lang="en-US" sz="1430" dirty="0"/>
          </a:p>
        </p:txBody>
      </p:sp>
      <p:sp>
        <p:nvSpPr>
          <p:cNvPr id="35" name="Text 33"/>
          <p:cNvSpPr/>
          <p:nvPr/>
        </p:nvSpPr>
        <p:spPr>
          <a:xfrm>
            <a:off x="795528" y="5047488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737360" y="5084064"/>
            <a:ext cx="5577840" cy="164592"/>
          </a:xfrm>
          <a:prstGeom prst="rect">
            <a:avLst/>
          </a:prstGeom>
          <a:solidFill>
            <a:srgbClr val="E1E9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7360" y="5084064"/>
            <a:ext cx="5085596" cy="164592"/>
          </a:xfrm>
          <a:prstGeom prst="rect">
            <a:avLst/>
          </a:prstGeom>
          <a:solidFill>
            <a:srgbClr val="A0B3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16368" y="499262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3.647s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5528" y="5477256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737360" y="5504688"/>
            <a:ext cx="5577840" cy="164592"/>
          </a:xfrm>
          <a:prstGeom prst="rect">
            <a:avLst/>
          </a:prstGeom>
          <a:solidFill>
            <a:srgbClr val="E1E9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5504688"/>
            <a:ext cx="3183552" cy="164592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540410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2.283s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759952" y="4873752"/>
            <a:ext cx="2450592" cy="704088"/>
          </a:xfrm>
          <a:prstGeom prst="roundRect">
            <a:avLst>
              <a:gd name="adj" fmla="val 15584"/>
            </a:avLst>
          </a:prstGeom>
          <a:solidFill>
            <a:srgbClr val="E7F5F1"/>
          </a:solidFill>
          <a:ln w="11430">
            <a:solidFill>
              <a:srgbClr val="E7F5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15400" y="5056632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80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P95降低37.4%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66928" y="6172200"/>
            <a:ext cx="11045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*慢题4.777s为本机文本链路；语音首响20轮为录完发送模式；插话40轮为点击录音式。准确率按提供的200题人工审核表统计。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5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383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可落地知识维护与三场景现场Demo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85039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知识更新与大模型解耦：重建检索索引，而不是重训模型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27080" y="4114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6483096"/>
            <a:ext cx="11155680" cy="10973"/>
          </a:xfrm>
          <a:prstGeom prst="rect">
            <a:avLst/>
          </a:prstGeom>
          <a:solidFill>
            <a:srgbClr val="DEE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28816"/>
            <a:ext cx="5669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OPEN-JS-01  ·  初赛项目汇报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0744200" y="6528816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1173968" cy="1161288"/>
          </a:xfrm>
          <a:prstGeom prst="roundRect">
            <a:avLst>
              <a:gd name="adj" fmla="val 9449"/>
            </a:avLst>
          </a:prstGeom>
          <a:solidFill>
            <a:srgbClr val="EAF2FC"/>
          </a:solidFill>
          <a:ln w="11430">
            <a:solidFill>
              <a:srgbClr val="D8E7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389888"/>
            <a:ext cx="565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知识库维护成本：隔离模拟更新实验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04688" y="134416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6.388秒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04688" y="18013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全量索引重建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498080" y="134416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98080" y="18013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向量知识片段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9491472" y="134416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无需重训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91472" y="18013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知识与模型解耦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49808" y="2048256"/>
            <a:ext cx="10616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文件替换  →  脚本重建索引  →  重启服务  →  验收；模拟更名1份PDF，正文未修改。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270662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接下来现场演示的三个场景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" y="3127248"/>
            <a:ext cx="3547872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全双工语音插话</a:t>
            </a:r>
            <a:endParaRPr lang="en-US" sz="1370" dirty="0"/>
          </a:p>
        </p:txBody>
      </p:sp>
      <p:pic>
        <p:nvPicPr>
          <p:cNvPr id="22" name="Image 0" descr="/mnt/data/ppt_assets/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749040"/>
            <a:ext cx="3236976" cy="13898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3232" y="52486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旧播报停止 · 新问题识别 · 上下文保留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633472" y="5541264"/>
            <a:ext cx="1261872" cy="283464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430">
            <a:solidFill>
              <a:srgbClr val="EAF2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34056" y="55686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交互体验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34256" y="3127248"/>
            <a:ext cx="3547872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7136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条件化RAG与证据高亮</a:t>
            </a:r>
            <a:endParaRPr lang="en-US" sz="1370" dirty="0"/>
          </a:p>
        </p:txBody>
      </p:sp>
      <p:pic>
        <p:nvPicPr>
          <p:cNvPr id="28" name="Image 1" descr="/mnt/data/ppt_assets/ans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3749040"/>
            <a:ext cx="3236976" cy="13898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526280" y="52486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 / 医保动态变化，条款精准追溯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46520" y="5541264"/>
            <a:ext cx="1261872" cy="283464"/>
          </a:xfrm>
          <a:prstGeom prst="roundRect">
            <a:avLst>
              <a:gd name="adj" fmla="val 25806"/>
            </a:avLst>
          </a:prstGeom>
          <a:solidFill>
            <a:srgbClr val="EAF2FC"/>
          </a:solidFill>
          <a:ln w="11430">
            <a:solidFill>
              <a:srgbClr val="EAF2F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47104" y="55686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7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AI原生能力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138160" y="3127248"/>
            <a:ext cx="3547872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1430">
            <a:solidFill>
              <a:srgbClr val="DEE8F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2104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734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安全兜底与待人工处理</a:t>
            </a:r>
            <a:endParaRPr lang="en-US" sz="1370" dirty="0"/>
          </a:p>
        </p:txBody>
      </p:sp>
      <p:pic>
        <p:nvPicPr>
          <p:cNvPr id="34" name="Image 2" descr="/mnt/data/ppt_assets/safe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3749040"/>
            <a:ext cx="3236976" cy="13898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330184" y="52486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3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主动澄清 → 不确定 → 停止推测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10250424" y="5541264"/>
            <a:ext cx="1261872" cy="283464"/>
          </a:xfrm>
          <a:prstGeom prst="roundRect">
            <a:avLst>
              <a:gd name="adj" fmla="val 25806"/>
            </a:avLst>
          </a:prstGeom>
          <a:solidFill>
            <a:srgbClr val="FFF0EF"/>
          </a:solidFill>
          <a:ln w="11430">
            <a:solidFill>
              <a:srgbClr val="FFF0E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0351008" y="556869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D5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可信安全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566928" y="6135624"/>
            <a:ext cx="11064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87E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实验边界：知识库耗时为隔离模拟环境，真实发布仍需版本核对、服务重启和问答回归；人工处理状态不代表已接通客服。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OPEN-JS-01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保险复杂咨询全双工语音Agent</dc:title>
  <dc:subject>OPEN-JS-01 初赛</dc:subject>
  <dc:creator>ChatGPT</dc:creator>
  <cp:lastModifiedBy>ChatGPT</cp:lastModifiedBy>
  <cp:revision>1</cp:revision>
  <dcterms:created xsi:type="dcterms:W3CDTF">2026-10-14T07:43:00Z</dcterms:created>
  <dcterms:modified xsi:type="dcterms:W3CDTF">2026-10-14T07:43:00Z</dcterms:modified>
</cp:coreProperties>
</file>