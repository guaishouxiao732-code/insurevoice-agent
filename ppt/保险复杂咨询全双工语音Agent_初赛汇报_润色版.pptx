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Microsoft YaHei"/>
              </a:rPr>
              <a:t>点击鼠标移动幻灯片</a:t>
            </a:r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zh-CN" sz="2000" spc="-1" strike="noStrike">
                <a:latin typeface="Arial"/>
              </a:rPr>
              <a:t>点击编辑备注格式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&lt;页眉&gt;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234C0033-FA92-4B70-BD62-0B8B2272AD24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zh-CN" sz="2000" spc="-1" strike="noStrike">
                <a:latin typeface="Arial"/>
              </a:rPr>
              <a:t>约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秒：我们构建了一套面向保险复杂咨询的语音</a:t>
            </a:r>
            <a:r>
              <a:rPr b="0" lang="en-US" sz="2000" spc="-1" strike="noStrike">
                <a:latin typeface="Arial"/>
              </a:rPr>
              <a:t>Agent</a:t>
            </a:r>
            <a:r>
              <a:rPr b="0" lang="zh-CN" sz="2000" spc="-1" strike="noStrike">
                <a:latin typeface="Arial"/>
              </a:rPr>
              <a:t>，采用快慢思考协同，完整串联全双工交互、</a:t>
            </a:r>
            <a:r>
              <a:rPr b="0" lang="en-US" sz="2000" spc="-1" strike="noStrike">
                <a:latin typeface="Arial"/>
              </a:rPr>
              <a:t>RAG</a:t>
            </a:r>
            <a:r>
              <a:rPr b="0" lang="zh-CN" sz="2000" spc="-1" strike="noStrike">
                <a:latin typeface="Arial"/>
              </a:rPr>
              <a:t>检索、条件化推理与安全兜底。系统有真实网页界面和可量化测试。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2729139-D1CD-4469-9D08-077AFC57BC4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zh-CN" sz="2000" spc="-1" strike="noStrike">
                <a:latin typeface="Arial"/>
              </a:rPr>
              <a:t>约</a:t>
            </a:r>
            <a:r>
              <a:rPr b="0" lang="en-US" sz="2000" spc="-1" strike="noStrike">
                <a:latin typeface="Arial"/>
              </a:rPr>
              <a:t>40</a:t>
            </a:r>
            <a:r>
              <a:rPr b="0" lang="zh-CN" sz="2000" spc="-1" strike="noStrike">
                <a:latin typeface="Arial"/>
              </a:rPr>
              <a:t>秒：系统分为知识层、运行层和状态层。</a:t>
            </a:r>
            <a:r>
              <a:rPr b="0" lang="en-US" sz="2000" spc="-1" strike="noStrike">
                <a:latin typeface="Arial"/>
              </a:rPr>
              <a:t>PDF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Excel</a:t>
            </a:r>
            <a:r>
              <a:rPr b="0" lang="zh-CN" sz="2000" spc="-1" strike="noStrike">
                <a:latin typeface="Arial"/>
              </a:rPr>
              <a:t>经解析分块后由</a:t>
            </a:r>
            <a:r>
              <a:rPr b="0" lang="en-US" sz="2000" spc="-1" strike="noStrike">
                <a:latin typeface="Arial"/>
              </a:rPr>
              <a:t>BGE</a:t>
            </a:r>
            <a:r>
              <a:rPr b="0" lang="zh-CN" sz="2000" spc="-1" strike="noStrike">
                <a:latin typeface="Arial"/>
              </a:rPr>
              <a:t>生成向量写入</a:t>
            </a:r>
            <a:r>
              <a:rPr b="0" lang="en-US" sz="2000" spc="-1" strike="noStrike">
                <a:latin typeface="Arial"/>
              </a:rPr>
              <a:t>FAISS</a:t>
            </a:r>
            <a:r>
              <a:rPr b="0" lang="zh-CN" sz="2000" spc="-1" strike="noStrike">
                <a:latin typeface="Arial"/>
              </a:rPr>
              <a:t>，同时保留页码和行号。用户语音经</a:t>
            </a:r>
            <a:r>
              <a:rPr b="0" lang="en-US" sz="2000" spc="-1" strike="noStrike">
                <a:latin typeface="Arial"/>
              </a:rPr>
              <a:t>ASR</a:t>
            </a:r>
            <a:r>
              <a:rPr b="0" lang="zh-CN" sz="2000" spc="-1" strike="noStrike">
                <a:latin typeface="Arial"/>
              </a:rPr>
              <a:t>进入快思考层，完成意图与条件抽取；简单问题走快速路径，复杂问题进入</a:t>
            </a:r>
            <a:r>
              <a:rPr b="0" lang="en-US" sz="2000" spc="-1" strike="noStrike">
                <a:latin typeface="Arial"/>
              </a:rPr>
              <a:t>RAG</a:t>
            </a:r>
            <a:r>
              <a:rPr b="0" lang="zh-CN" sz="2000" spc="-1" strike="noStrike">
                <a:latin typeface="Arial"/>
              </a:rPr>
              <a:t>和规则核验。证据与条件决定直接回答、澄清或转人工。</a:t>
            </a:r>
            <a:r>
              <a:rPr b="0" lang="en-US" sz="2000" spc="-1" strike="noStrike">
                <a:latin typeface="Arial"/>
              </a:rPr>
              <a:t>SQLite</a:t>
            </a:r>
            <a:r>
              <a:rPr b="0" lang="zh-CN" sz="2000" spc="-1" strike="noStrike">
                <a:latin typeface="Arial"/>
              </a:rPr>
              <a:t>和会话版本机制保证打断后上下文一致。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AEDEABE-626E-4335-8EAC-1BE1201E04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zh-CN" sz="2000" spc="-1" strike="noStrike">
                <a:latin typeface="Arial"/>
              </a:rPr>
              <a:t>约</a:t>
            </a:r>
            <a:r>
              <a:rPr b="0" lang="en-US" sz="2000" spc="-1" strike="noStrike">
                <a:latin typeface="Arial"/>
              </a:rPr>
              <a:t>35</a:t>
            </a:r>
            <a:r>
              <a:rPr b="0" lang="zh-CN" sz="2000" spc="-1" strike="noStrike">
                <a:latin typeface="Arial"/>
              </a:rPr>
              <a:t>秒：用户插话到来时，系统停止旧</a:t>
            </a:r>
            <a:r>
              <a:rPr b="0" lang="en-US" sz="2000" spc="-1" strike="noStrike">
                <a:latin typeface="Arial"/>
              </a:rPr>
              <a:t>TTS</a:t>
            </a:r>
            <a:r>
              <a:rPr b="0" lang="zh-CN" sz="2000" spc="-1" strike="noStrike">
                <a:latin typeface="Arial"/>
              </a:rPr>
              <a:t>、取消旧生成任务，保留已经确认的用户条件，并更新</a:t>
            </a:r>
            <a:r>
              <a:rPr b="0" lang="en-US" sz="2000" spc="-1" strike="noStrike">
                <a:latin typeface="Arial"/>
              </a:rPr>
              <a:t>context_version</a:t>
            </a:r>
            <a:r>
              <a:rPr b="0" lang="zh-CN" sz="2000" spc="-1" strike="noStrike">
                <a:latin typeface="Arial"/>
              </a:rPr>
              <a:t>，再将新问题送入快慢思考。此前在</a:t>
            </a:r>
            <a:r>
              <a:rPr b="0" lang="en-US" sz="2000" spc="-1" strike="noStrike">
                <a:latin typeface="Arial"/>
              </a:rPr>
              <a:t>Chromium</a:t>
            </a:r>
            <a:r>
              <a:rPr b="0" lang="zh-CN" sz="2000" spc="-1" strike="noStrike">
                <a:latin typeface="Arial"/>
              </a:rPr>
              <a:t>公网链路下，点击式语音插话</a:t>
            </a:r>
            <a:r>
              <a:rPr b="0" lang="en-US" sz="2000" spc="-1" strike="noStrike">
                <a:latin typeface="Arial"/>
              </a:rPr>
              <a:t>40</a:t>
            </a:r>
            <a:r>
              <a:rPr b="0" lang="zh-CN" sz="2000" spc="-1" strike="noStrike">
                <a:latin typeface="Arial"/>
              </a:rPr>
              <a:t>轮四项同时通过，服务端停止确认</a:t>
            </a:r>
            <a:r>
              <a:rPr b="0" lang="en-US" sz="2000" spc="-1" strike="noStrike">
                <a:latin typeface="Arial"/>
              </a:rPr>
              <a:t>P95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56.02</a:t>
            </a:r>
            <a:r>
              <a:rPr b="0" lang="zh-CN" sz="2000" spc="-1" strike="noStrike">
                <a:latin typeface="Arial"/>
              </a:rPr>
              <a:t>毫秒。测试方式是点击开始和结束录音，现场可继续展示持续监听模式。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95385FA-B25A-4229-8EB7-D7A43107672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zh-CN" sz="2000" spc="-1" strike="noStrike">
                <a:latin typeface="Arial"/>
              </a:rPr>
              <a:t>约</a:t>
            </a:r>
            <a:r>
              <a:rPr b="0" lang="en-US" sz="2000" spc="-1" strike="noStrike">
                <a:latin typeface="Arial"/>
              </a:rPr>
              <a:t>35</a:t>
            </a:r>
            <a:r>
              <a:rPr b="0" lang="zh-CN" sz="2000" spc="-1" strike="noStrike">
                <a:latin typeface="Arial"/>
              </a:rPr>
              <a:t>秒：系统会主动收集年龄、医保和缴费方式。</a:t>
            </a:r>
            <a:r>
              <a:rPr b="0" lang="en-US" sz="2000" spc="-1" strike="noStrike">
                <a:latin typeface="Arial"/>
              </a:rPr>
              <a:t>30</a:t>
            </a:r>
            <a:r>
              <a:rPr b="0" lang="zh-CN" sz="2000" spc="-1" strike="noStrike">
                <a:latin typeface="Arial"/>
              </a:rPr>
              <a:t>岁有医保年缴对应</a:t>
            </a:r>
            <a:r>
              <a:rPr b="0" lang="en-US" sz="2000" spc="-1" strike="noStrike">
                <a:latin typeface="Arial"/>
              </a:rPr>
              <a:t>318</a:t>
            </a:r>
            <a:r>
              <a:rPr b="0" lang="zh-CN" sz="2000" spc="-1" strike="noStrike">
                <a:latin typeface="Arial"/>
              </a:rPr>
              <a:t>元；用户更正年龄到</a:t>
            </a:r>
            <a:r>
              <a:rPr b="0" lang="en-US" sz="2000" spc="-1" strike="noStrike">
                <a:latin typeface="Arial"/>
              </a:rPr>
              <a:t>35</a:t>
            </a:r>
            <a:r>
              <a:rPr b="0" lang="zh-CN" sz="2000" spc="-1" strike="noStrike">
                <a:latin typeface="Arial"/>
              </a:rPr>
              <a:t>岁后是</a:t>
            </a:r>
            <a:r>
              <a:rPr b="0" lang="en-US" sz="2000" spc="-1" strike="noStrike">
                <a:latin typeface="Arial"/>
              </a:rPr>
              <a:t>423</a:t>
            </a:r>
            <a:r>
              <a:rPr b="0" lang="zh-CN" sz="2000" spc="-1" strike="noStrike">
                <a:latin typeface="Arial"/>
              </a:rPr>
              <a:t>元；再变为无医保时是</a:t>
            </a:r>
            <a:r>
              <a:rPr b="0" lang="en-US" sz="2000" spc="-1" strike="noStrike">
                <a:latin typeface="Arial"/>
              </a:rPr>
              <a:t>971</a:t>
            </a:r>
            <a:r>
              <a:rPr b="0" lang="zh-CN" sz="2000" spc="-1" strike="noStrike">
                <a:latin typeface="Arial"/>
              </a:rPr>
              <a:t>元；恢复有医保回到</a:t>
            </a:r>
            <a:r>
              <a:rPr b="0" lang="en-US" sz="2000" spc="-1" strike="noStrike">
                <a:latin typeface="Arial"/>
              </a:rPr>
              <a:t>423</a:t>
            </a:r>
            <a:r>
              <a:rPr b="0" lang="zh-CN" sz="2000" spc="-1" strike="noStrike">
                <a:latin typeface="Arial"/>
              </a:rPr>
              <a:t>元。数字与</a:t>
            </a:r>
            <a:r>
              <a:rPr b="0" lang="en-US" sz="2000" spc="-1" strike="noStrike">
                <a:latin typeface="Arial"/>
              </a:rPr>
              <a:t>2026</a:t>
            </a:r>
            <a:r>
              <a:rPr b="0" lang="zh-CN" sz="2000" spc="-1" strike="noStrike">
                <a:latin typeface="Arial"/>
              </a:rPr>
              <a:t>年年缴费率表逐项一致，界面还能显示来源与高亮条件。证据不足时进入澄清或待人工分支。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EF1DD9F-AEC2-40BA-9536-C7EA1783E63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zh-CN" sz="2000" spc="-1" strike="noStrike">
                <a:latin typeface="Arial"/>
              </a:rPr>
              <a:t>约</a:t>
            </a:r>
            <a:r>
              <a:rPr b="0" lang="en-US" sz="2000" spc="-1" strike="noStrike">
                <a:latin typeface="Arial"/>
              </a:rPr>
              <a:t>45</a:t>
            </a:r>
            <a:r>
              <a:rPr b="0" lang="zh-CN" sz="2000" spc="-1" strike="noStrike">
                <a:latin typeface="Arial"/>
              </a:rPr>
              <a:t>秒：在</a:t>
            </a:r>
            <a:r>
              <a:rPr b="0" lang="en-US" sz="2000" spc="-1" strike="noStrike">
                <a:latin typeface="Arial"/>
              </a:rPr>
              <a:t>200</a:t>
            </a:r>
            <a:r>
              <a:rPr b="0" lang="zh-CN" sz="2000" spc="-1" strike="noStrike">
                <a:latin typeface="Arial"/>
              </a:rPr>
              <a:t>题人工逐题审核中，</a:t>
            </a:r>
            <a:r>
              <a:rPr b="0" lang="en-US" sz="2000" spc="-1" strike="noStrike">
                <a:latin typeface="Arial"/>
              </a:rPr>
              <a:t>192</a:t>
            </a:r>
            <a:r>
              <a:rPr b="0" lang="zh-CN" sz="2000" spc="-1" strike="noStrike">
                <a:latin typeface="Arial"/>
              </a:rPr>
              <a:t>题通过，准确率</a:t>
            </a:r>
            <a:r>
              <a:rPr b="0" lang="en-US" sz="2000" spc="-1" strike="noStrike">
                <a:latin typeface="Arial"/>
              </a:rPr>
              <a:t>96%</a:t>
            </a:r>
            <a:r>
              <a:rPr b="0" lang="zh-CN" sz="2000" spc="-1" strike="noStrike">
                <a:latin typeface="Arial"/>
              </a:rPr>
              <a:t>，比要求的</a:t>
            </a:r>
            <a:r>
              <a:rPr b="0" lang="en-US" sz="2000" spc="-1" strike="noStrike">
                <a:latin typeface="Arial"/>
              </a:rPr>
              <a:t>90%</a:t>
            </a:r>
            <a:r>
              <a:rPr b="0" lang="zh-CN" sz="2000" spc="-1" strike="noStrike">
                <a:latin typeface="Arial"/>
              </a:rPr>
              <a:t>高</a:t>
            </a:r>
            <a:r>
              <a:rPr b="0" lang="en-US" sz="2000" spc="-1" strike="noStrike">
                <a:latin typeface="Arial"/>
              </a:rPr>
              <a:t>6</a:t>
            </a:r>
            <a:r>
              <a:rPr b="0" lang="zh-CN" sz="2000" spc="-1" strike="noStrike">
                <a:latin typeface="Arial"/>
              </a:rPr>
              <a:t>个百分点。公网端到端语音首响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轮均低于</a:t>
            </a:r>
            <a:r>
              <a:rPr b="0" lang="en-US" sz="2000" spc="-1" strike="noStrike">
                <a:latin typeface="Arial"/>
              </a:rPr>
              <a:t>3</a:t>
            </a:r>
            <a:r>
              <a:rPr b="0" lang="zh-CN" sz="2000" spc="-1" strike="noStrike">
                <a:latin typeface="Arial"/>
              </a:rPr>
              <a:t>秒，</a:t>
            </a:r>
            <a:r>
              <a:rPr b="0" lang="en-US" sz="2000" spc="-1" strike="noStrike">
                <a:latin typeface="Arial"/>
              </a:rPr>
              <a:t>P95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2.283</a:t>
            </a:r>
            <a:r>
              <a:rPr b="0" lang="zh-CN" sz="2000" spc="-1" strike="noStrike">
                <a:latin typeface="Arial"/>
              </a:rPr>
              <a:t>秒。我们通过</a:t>
            </a:r>
            <a:r>
              <a:rPr b="0" lang="en-US" sz="2000" spc="-1" strike="noStrike">
                <a:latin typeface="Arial"/>
              </a:rPr>
              <a:t>TTS</a:t>
            </a:r>
            <a:r>
              <a:rPr b="0" lang="zh-CN" sz="2000" spc="-1" strike="noStrike">
                <a:latin typeface="Arial"/>
              </a:rPr>
              <a:t>首句分段策略，把</a:t>
            </a:r>
            <a:r>
              <a:rPr b="0" lang="en-US" sz="2000" spc="-1" strike="noStrike">
                <a:latin typeface="Arial"/>
              </a:rPr>
              <a:t>P95</a:t>
            </a:r>
            <a:r>
              <a:rPr b="0" lang="zh-CN" sz="2000" spc="-1" strike="noStrike">
                <a:latin typeface="Arial"/>
              </a:rPr>
              <a:t>从</a:t>
            </a:r>
            <a:r>
              <a:rPr b="0" lang="en-US" sz="2000" spc="-1" strike="noStrike">
                <a:latin typeface="Arial"/>
              </a:rPr>
              <a:t>3.647</a:t>
            </a:r>
            <a:r>
              <a:rPr b="0" lang="zh-CN" sz="2000" spc="-1" strike="noStrike">
                <a:latin typeface="Arial"/>
              </a:rPr>
              <a:t>秒降低</a:t>
            </a:r>
            <a:r>
              <a:rPr b="0" lang="en-US" sz="2000" spc="-1" strike="noStrike">
                <a:latin typeface="Arial"/>
              </a:rPr>
              <a:t>37.4%</a:t>
            </a:r>
            <a:r>
              <a:rPr b="0" lang="zh-CN" sz="2000" spc="-1" strike="noStrike">
                <a:latin typeface="Arial"/>
              </a:rPr>
              <a:t>。点击式语音插话链路</a:t>
            </a:r>
            <a:r>
              <a:rPr b="0" lang="en-US" sz="2000" spc="-1" strike="noStrike">
                <a:latin typeface="Arial"/>
              </a:rPr>
              <a:t>40</a:t>
            </a:r>
            <a:r>
              <a:rPr b="0" lang="zh-CN" sz="2000" spc="-1" strike="noStrike">
                <a:latin typeface="Arial"/>
              </a:rPr>
              <a:t>轮通过，预设安全兜底</a:t>
            </a:r>
            <a:r>
              <a:rPr b="0" lang="en-US" sz="2000" spc="-1" strike="noStrike">
                <a:latin typeface="Arial"/>
              </a:rPr>
              <a:t>13</a:t>
            </a:r>
            <a:r>
              <a:rPr b="0" lang="zh-CN" sz="2000" spc="-1" strike="noStrike">
                <a:latin typeface="Arial"/>
              </a:rPr>
              <a:t>轮通过。完整回答</a:t>
            </a:r>
            <a:r>
              <a:rPr b="0" lang="en-US" sz="2000" spc="-1" strike="noStrike">
                <a:latin typeface="Arial"/>
              </a:rPr>
              <a:t>4.777</a:t>
            </a:r>
            <a:r>
              <a:rPr b="0" lang="zh-CN" sz="2000" spc="-1" strike="noStrike">
                <a:latin typeface="Arial"/>
              </a:rPr>
              <a:t>秒为本机文本链路结果。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B8DB4C5-354B-4EEC-9851-8F4544F39A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zh-CN" sz="2000" spc="-1" strike="noStrike">
                <a:latin typeface="Arial"/>
              </a:rPr>
              <a:t>约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秒：在可落地方面，知识更新不需要重新训练大模型。一次隔离模拟更新中，</a:t>
            </a:r>
            <a:r>
              <a:rPr b="0" lang="en-US" sz="2000" spc="-1" strike="noStrike">
                <a:latin typeface="Arial"/>
              </a:rPr>
              <a:t>FAISS</a:t>
            </a:r>
            <a:r>
              <a:rPr b="0" lang="zh-CN" sz="2000" spc="-1" strike="noStrike">
                <a:latin typeface="Arial"/>
              </a:rPr>
              <a:t>索引重建耗时</a:t>
            </a:r>
            <a:r>
              <a:rPr b="0" lang="en-US" sz="2000" spc="-1" strike="noStrike">
                <a:latin typeface="Arial"/>
              </a:rPr>
              <a:t>6.388</a:t>
            </a:r>
            <a:r>
              <a:rPr b="0" lang="zh-CN" sz="2000" spc="-1" strike="noStrike">
                <a:latin typeface="Arial"/>
              </a:rPr>
              <a:t>秒。下面我们用三个场景演示语音插话、条件化</a:t>
            </a:r>
            <a:r>
              <a:rPr b="0" lang="en-US" sz="2000" spc="-1" strike="noStrike">
                <a:latin typeface="Arial"/>
              </a:rPr>
              <a:t>RAG</a:t>
            </a:r>
            <a:r>
              <a:rPr b="0" lang="zh-CN" sz="2000" spc="-1" strike="noStrike">
                <a:latin typeface="Arial"/>
              </a:rPr>
              <a:t>与来源高亮，以及信息不足时的安全兜底。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7DBEE6E-F799-4AC9-9C54-1491E958F2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Microsoft YaHei"/>
              </a:rPr>
              <a:t>点击鼠标编辑标题文字格式</a:t>
            </a:r>
            <a:endParaRPr b="0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rgbClr val="000000"/>
                </a:solidFill>
                <a:latin typeface="Microsoft YaHei"/>
              </a:rPr>
              <a:t>点击鼠标编辑大纲文字格式</a:t>
            </a:r>
            <a:endParaRPr b="0" lang="en-US" sz="3200" spc="-1" strike="noStrike">
              <a:solidFill>
                <a:srgbClr val="000000"/>
              </a:solidFill>
              <a:latin typeface="Microsoft YaHe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pc="-1" strike="noStrike">
                <a:solidFill>
                  <a:srgbClr val="000000"/>
                </a:solidFill>
                <a:latin typeface="Microsoft YaHei"/>
              </a:rPr>
              <a:t>第二个大纲级</a:t>
            </a:r>
            <a:endParaRPr b="0" lang="en-US" sz="2400" spc="-1" strike="noStrike">
              <a:solidFill>
                <a:srgbClr val="000000"/>
              </a:solidFill>
              <a:latin typeface="Microsoft YaHe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</a:rPr>
              <a:t>第三大纲级别</a:t>
            </a:r>
            <a:endParaRPr b="0" lang="en-US" sz="2000" spc="-1" strike="noStrike">
              <a:solidFill>
                <a:srgbClr val="000000"/>
              </a:solidFill>
              <a:latin typeface="Microsoft YaHe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</a:rPr>
              <a:t>第四大纲级别</a:t>
            </a:r>
            <a:endParaRPr b="0" lang="en-US" sz="2000" spc="-1" strike="noStrike">
              <a:solidFill>
                <a:srgbClr val="000000"/>
              </a:solidFill>
              <a:latin typeface="Microsoft YaHe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</a:rPr>
              <a:t>第五大纲级别</a:t>
            </a:r>
            <a:endParaRPr b="0" lang="en-US" sz="2000" spc="-1" strike="noStrike">
              <a:solidFill>
                <a:srgbClr val="000000"/>
              </a:solidFill>
              <a:latin typeface="Microsoft YaHe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</a:rPr>
              <a:t>第六大纲级别</a:t>
            </a:r>
            <a:endParaRPr b="0" lang="en-US" sz="2000" spc="-1" strike="noStrike">
              <a:solidFill>
                <a:srgbClr val="000000"/>
              </a:solidFill>
              <a:latin typeface="Microsoft YaHe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</a:rPr>
              <a:t>第七大纲级别</a:t>
            </a:r>
            <a:endParaRPr b="0" lang="en-US" sz="2000" spc="-1" strike="noStrike">
              <a:solidFill>
                <a:srgbClr val="000000"/>
              </a:solidFill>
              <a:latin typeface="Microsoft YaHe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Custom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3"/>
          <p:cNvSpPr/>
          <p:nvPr/>
        </p:nvSpPr>
        <p:spPr>
          <a:xfrm>
            <a:off x="502920" y="448200"/>
            <a:ext cx="1078560" cy="6840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CustomShape 4"/>
          <p:cNvSpPr/>
          <p:nvPr/>
        </p:nvSpPr>
        <p:spPr>
          <a:xfrm>
            <a:off x="502920" y="658440"/>
            <a:ext cx="56689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赛道二  </a:t>
            </a:r>
            <a:r>
              <a:rPr b="1" lang="en-US" sz="12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/  OPEN-JS-01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502920" y="1307520"/>
            <a:ext cx="640044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35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保险复杂咨询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49" name="CustomShape 6"/>
          <p:cNvSpPr/>
          <p:nvPr/>
        </p:nvSpPr>
        <p:spPr>
          <a:xfrm>
            <a:off x="502920" y="2020680"/>
            <a:ext cx="6400440" cy="71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35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全双工语音 </a:t>
            </a:r>
            <a:r>
              <a:rPr b="1" lang="en-US" sz="35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Agent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50" name="CustomShape 7"/>
          <p:cNvSpPr/>
          <p:nvPr/>
        </p:nvSpPr>
        <p:spPr>
          <a:xfrm>
            <a:off x="530280" y="2862000"/>
            <a:ext cx="57603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96%</a:t>
            </a:r>
            <a:r>
              <a:rPr b="0" lang="zh-CN" sz="16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人工准确率 </a:t>
            </a:r>
            <a:r>
              <a:rPr b="0" lang="en-US" sz="16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2.283</a:t>
            </a:r>
            <a:r>
              <a:rPr b="0" lang="zh-CN" sz="16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秒语音首响</a:t>
            </a:r>
            <a:r>
              <a:rPr b="0" lang="en-US" sz="16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P95 · 6.388</a:t>
            </a:r>
            <a:r>
              <a:rPr b="0" lang="zh-CN" sz="16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秒知识索引重建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1" name="CustomShape 8"/>
          <p:cNvSpPr/>
          <p:nvPr/>
        </p:nvSpPr>
        <p:spPr>
          <a:xfrm>
            <a:off x="521280" y="3703320"/>
            <a:ext cx="5193360" cy="91404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9"/>
          <p:cNvSpPr/>
          <p:nvPr/>
        </p:nvSpPr>
        <p:spPr>
          <a:xfrm>
            <a:off x="740520" y="3886200"/>
            <a:ext cx="50040" cy="511560"/>
          </a:xfrm>
          <a:prstGeom prst="rect">
            <a:avLst/>
          </a:prstGeom>
          <a:solidFill>
            <a:srgbClr val="19806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0"/>
          <p:cNvSpPr/>
          <p:nvPr/>
        </p:nvSpPr>
        <p:spPr>
          <a:xfrm>
            <a:off x="914400" y="3840480"/>
            <a:ext cx="450756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42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面向既往病史、投保与理赔等复杂咨询，</a:t>
            </a:r>
            <a:endParaRPr b="0" lang="en-US" sz="1420" spc="-1" strike="noStrike">
              <a:latin typeface="Arial"/>
            </a:endParaRPr>
          </a:p>
        </p:txBody>
      </p:sp>
      <p:sp>
        <p:nvSpPr>
          <p:cNvPr id="54" name="CustomShape 11"/>
          <p:cNvSpPr/>
          <p:nvPr/>
        </p:nvSpPr>
        <p:spPr>
          <a:xfrm>
            <a:off x="914400" y="4151520"/>
            <a:ext cx="4507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42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以四项达标能力闭环兼顾低延迟、准确性与可信安全。</a:t>
            </a:r>
            <a:endParaRPr b="0" lang="en-US" sz="1420" spc="-1" strike="noStrike">
              <a:latin typeface="Arial"/>
            </a:endParaRPr>
          </a:p>
        </p:txBody>
      </p:sp>
      <p:sp>
        <p:nvSpPr>
          <p:cNvPr id="55" name="CustomShape 12"/>
          <p:cNvSpPr/>
          <p:nvPr/>
        </p:nvSpPr>
        <p:spPr>
          <a:xfrm>
            <a:off x="6556320" y="1134000"/>
            <a:ext cx="5111280" cy="356580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6" name="Image 0" descr="/mnt/data/ppt_assets/cover.png"/>
          <p:cNvPicPr/>
          <p:nvPr/>
        </p:nvPicPr>
        <p:blipFill>
          <a:blip r:embed="rId1"/>
          <a:stretch/>
        </p:blipFill>
        <p:spPr>
          <a:xfrm>
            <a:off x="6684120" y="1271160"/>
            <a:ext cx="4845960" cy="3264120"/>
          </a:xfrm>
          <a:prstGeom prst="rect">
            <a:avLst/>
          </a:prstGeom>
          <a:ln>
            <a:noFill/>
          </a:ln>
        </p:spPr>
      </p:pic>
      <p:sp>
        <p:nvSpPr>
          <p:cNvPr id="57" name="CustomShape 13"/>
          <p:cNvSpPr/>
          <p:nvPr/>
        </p:nvSpPr>
        <p:spPr>
          <a:xfrm>
            <a:off x="9784080" y="4334400"/>
            <a:ext cx="1599840" cy="282960"/>
          </a:xfrm>
          <a:prstGeom prst="roundRect">
            <a:avLst>
              <a:gd name="adj" fmla="val 25806"/>
            </a:avLst>
          </a:prstGeom>
          <a:solidFill>
            <a:srgbClr val="e7f5f1"/>
          </a:solidFill>
          <a:ln w="11520">
            <a:solidFill>
              <a:srgbClr val="e7f5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CustomShape 14"/>
          <p:cNvSpPr/>
          <p:nvPr/>
        </p:nvSpPr>
        <p:spPr>
          <a:xfrm>
            <a:off x="9884520" y="4361760"/>
            <a:ext cx="13986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0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真实系统界面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9" name="CustomShape 15"/>
          <p:cNvSpPr/>
          <p:nvPr/>
        </p:nvSpPr>
        <p:spPr>
          <a:xfrm>
            <a:off x="502920" y="5083920"/>
            <a:ext cx="557748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AI</a:t>
            </a:r>
            <a:r>
              <a:rPr b="1" lang="zh-CN" sz="15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原生达标组合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0" name="CustomShape 16"/>
          <p:cNvSpPr/>
          <p:nvPr/>
        </p:nvSpPr>
        <p:spPr>
          <a:xfrm>
            <a:off x="502920" y="5523120"/>
            <a:ext cx="2651400" cy="776880"/>
          </a:xfrm>
          <a:prstGeom prst="roundRect">
            <a:avLst>
              <a:gd name="adj" fmla="val 14118"/>
            </a:avLst>
          </a:prstGeom>
          <a:solidFill>
            <a:srgbClr val="eaf2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17"/>
          <p:cNvSpPr/>
          <p:nvPr/>
        </p:nvSpPr>
        <p:spPr>
          <a:xfrm>
            <a:off x="658440" y="5742360"/>
            <a:ext cx="109440" cy="109440"/>
          </a:xfrm>
          <a:prstGeom prst="ellipse">
            <a:avLst/>
          </a:prstGeom>
          <a:solidFill>
            <a:srgbClr val="3576bd"/>
          </a:solidFill>
          <a:ln w="12600">
            <a:solidFill>
              <a:srgbClr val="3576b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CustomShape 18"/>
          <p:cNvSpPr/>
          <p:nvPr/>
        </p:nvSpPr>
        <p:spPr>
          <a:xfrm>
            <a:off x="841320" y="5623560"/>
            <a:ext cx="21027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46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全双工交互</a:t>
            </a:r>
            <a:endParaRPr b="0" lang="en-US" sz="1460" spc="-1" strike="noStrike">
              <a:latin typeface="Arial"/>
            </a:endParaRPr>
          </a:p>
        </p:txBody>
      </p:sp>
      <p:sp>
        <p:nvSpPr>
          <p:cNvPr id="63" name="CustomShape 19"/>
          <p:cNvSpPr/>
          <p:nvPr/>
        </p:nvSpPr>
        <p:spPr>
          <a:xfrm>
            <a:off x="841320" y="5934600"/>
            <a:ext cx="214848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9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语音插话与上下文更新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64" name="CustomShape 20"/>
          <p:cNvSpPr/>
          <p:nvPr/>
        </p:nvSpPr>
        <p:spPr>
          <a:xfrm>
            <a:off x="3319200" y="5523120"/>
            <a:ext cx="2651400" cy="776880"/>
          </a:xfrm>
          <a:prstGeom prst="roundRect">
            <a:avLst>
              <a:gd name="adj" fmla="val 14118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ustomShape 21"/>
          <p:cNvSpPr/>
          <p:nvPr/>
        </p:nvSpPr>
        <p:spPr>
          <a:xfrm>
            <a:off x="3474720" y="5742360"/>
            <a:ext cx="109440" cy="109440"/>
          </a:xfrm>
          <a:prstGeom prst="ellipse">
            <a:avLst/>
          </a:prstGeom>
          <a:solidFill>
            <a:srgbClr val="19806d"/>
          </a:solidFill>
          <a:ln w="12600">
            <a:solidFill>
              <a:srgbClr val="1980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22"/>
          <p:cNvSpPr/>
          <p:nvPr/>
        </p:nvSpPr>
        <p:spPr>
          <a:xfrm>
            <a:off x="3657600" y="5623560"/>
            <a:ext cx="21027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6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RAG</a:t>
            </a:r>
            <a:r>
              <a:rPr b="1" lang="zh-CN" sz="146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检索</a:t>
            </a:r>
            <a:endParaRPr b="0" lang="en-US" sz="1460" spc="-1" strike="noStrike">
              <a:latin typeface="Arial"/>
            </a:endParaRPr>
          </a:p>
        </p:txBody>
      </p:sp>
      <p:sp>
        <p:nvSpPr>
          <p:cNvPr id="67" name="CustomShape 23"/>
          <p:cNvSpPr/>
          <p:nvPr/>
        </p:nvSpPr>
        <p:spPr>
          <a:xfrm>
            <a:off x="3657600" y="5934600"/>
            <a:ext cx="214848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9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原始条款来源高亮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68" name="CustomShape 24"/>
          <p:cNvSpPr/>
          <p:nvPr/>
        </p:nvSpPr>
        <p:spPr>
          <a:xfrm>
            <a:off x="6135480" y="5523120"/>
            <a:ext cx="2651400" cy="776880"/>
          </a:xfrm>
          <a:prstGeom prst="roundRect">
            <a:avLst>
              <a:gd name="adj" fmla="val 14118"/>
            </a:avLst>
          </a:prstGeom>
          <a:solidFill>
            <a:srgbClr val="eaf2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CustomShape 25"/>
          <p:cNvSpPr/>
          <p:nvPr/>
        </p:nvSpPr>
        <p:spPr>
          <a:xfrm>
            <a:off x="6291000" y="5742360"/>
            <a:ext cx="109440" cy="109440"/>
          </a:xfrm>
          <a:prstGeom prst="ellipse">
            <a:avLst/>
          </a:prstGeom>
          <a:solidFill>
            <a:srgbClr val="3576bd"/>
          </a:solidFill>
          <a:ln w="12600">
            <a:solidFill>
              <a:srgbClr val="3576b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CustomShape 26"/>
          <p:cNvSpPr/>
          <p:nvPr/>
        </p:nvSpPr>
        <p:spPr>
          <a:xfrm>
            <a:off x="6473880" y="5623560"/>
            <a:ext cx="21027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46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条件化推理</a:t>
            </a:r>
            <a:endParaRPr b="0" lang="en-US" sz="1460" spc="-1" strike="noStrike">
              <a:latin typeface="Arial"/>
            </a:endParaRPr>
          </a:p>
        </p:txBody>
      </p:sp>
      <p:sp>
        <p:nvSpPr>
          <p:cNvPr id="71" name="CustomShape 27"/>
          <p:cNvSpPr/>
          <p:nvPr/>
        </p:nvSpPr>
        <p:spPr>
          <a:xfrm>
            <a:off x="6473880" y="5934600"/>
            <a:ext cx="214848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9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用户状态驱动回答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2" name="CustomShape 28"/>
          <p:cNvSpPr/>
          <p:nvPr/>
        </p:nvSpPr>
        <p:spPr>
          <a:xfrm>
            <a:off x="8952120" y="5523120"/>
            <a:ext cx="2651400" cy="776880"/>
          </a:xfrm>
          <a:prstGeom prst="roundRect">
            <a:avLst>
              <a:gd name="adj" fmla="val 14118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29"/>
          <p:cNvSpPr/>
          <p:nvPr/>
        </p:nvSpPr>
        <p:spPr>
          <a:xfrm>
            <a:off x="9107280" y="5742360"/>
            <a:ext cx="109440" cy="109440"/>
          </a:xfrm>
          <a:prstGeom prst="ellipse">
            <a:avLst/>
          </a:prstGeom>
          <a:solidFill>
            <a:srgbClr val="19806d"/>
          </a:solidFill>
          <a:ln w="12600">
            <a:solidFill>
              <a:srgbClr val="1980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CustomShape 30"/>
          <p:cNvSpPr/>
          <p:nvPr/>
        </p:nvSpPr>
        <p:spPr>
          <a:xfrm>
            <a:off x="9290160" y="5623560"/>
            <a:ext cx="21027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46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安全兜底</a:t>
            </a:r>
            <a:endParaRPr b="0" lang="en-US" sz="1460" spc="-1" strike="noStrike">
              <a:latin typeface="Arial"/>
            </a:endParaRPr>
          </a:p>
        </p:txBody>
      </p:sp>
      <p:sp>
        <p:nvSpPr>
          <p:cNvPr id="75" name="CustomShape 31"/>
          <p:cNvSpPr/>
          <p:nvPr/>
        </p:nvSpPr>
        <p:spPr>
          <a:xfrm>
            <a:off x="9290160" y="5934600"/>
            <a:ext cx="214848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9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澄清与待人工处理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6" name="CustomShape 32"/>
          <p:cNvSpPr/>
          <p:nvPr/>
        </p:nvSpPr>
        <p:spPr>
          <a:xfrm>
            <a:off x="8503920" y="594360"/>
            <a:ext cx="31359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2026</a:t>
            </a: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年</a:t>
            </a: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10</a:t>
            </a: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月  </a:t>
            </a: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 </a:t>
            </a: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初赛</a:t>
            </a: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3</a:t>
            </a: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分钟汇报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Custom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"/>
          <p:cNvSpPr/>
          <p:nvPr/>
        </p:nvSpPr>
        <p:spPr>
          <a:xfrm>
            <a:off x="502920" y="338400"/>
            <a:ext cx="1014948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达标组合：全双工交互 </a:t>
            </a:r>
            <a:r>
              <a:rPr b="1" lang="en-US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+ RAG</a:t>
            </a: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检索 </a:t>
            </a:r>
            <a:r>
              <a:rPr b="1" lang="en-US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+ </a:t>
            </a: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条件化推理 </a:t>
            </a:r>
            <a:r>
              <a:rPr b="1" lang="en-US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+ </a:t>
            </a: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安全兜底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80" name="CustomShape 4"/>
          <p:cNvSpPr/>
          <p:nvPr/>
        </p:nvSpPr>
        <p:spPr>
          <a:xfrm>
            <a:off x="521280" y="850320"/>
            <a:ext cx="10240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快慢思考共享上下文、证据链和任务取消机制，形成一体化业务闭环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1" name="CustomShape 5"/>
          <p:cNvSpPr/>
          <p:nvPr/>
        </p:nvSpPr>
        <p:spPr>
          <a:xfrm>
            <a:off x="10927080" y="411480"/>
            <a:ext cx="7768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02 / 06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CustomShape 6"/>
          <p:cNvSpPr/>
          <p:nvPr/>
        </p:nvSpPr>
        <p:spPr>
          <a:xfrm>
            <a:off x="502920" y="6483240"/>
            <a:ext cx="11155320" cy="10440"/>
          </a:xfrm>
          <a:prstGeom prst="rect">
            <a:avLst/>
          </a:prstGeom>
          <a:solidFill>
            <a:srgbClr val="dee8f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CustomShape 7"/>
          <p:cNvSpPr/>
          <p:nvPr/>
        </p:nvSpPr>
        <p:spPr>
          <a:xfrm>
            <a:off x="502920" y="6528960"/>
            <a:ext cx="566892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OPEN-JS-01  ·  </a:t>
            </a:r>
            <a:r>
              <a:rPr b="0" lang="zh-CN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初赛项目汇报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84" name="CustomShape 8"/>
          <p:cNvSpPr/>
          <p:nvPr/>
        </p:nvSpPr>
        <p:spPr>
          <a:xfrm>
            <a:off x="10744200" y="6528960"/>
            <a:ext cx="895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2026.10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85" name="CustomShape 9"/>
          <p:cNvSpPr/>
          <p:nvPr/>
        </p:nvSpPr>
        <p:spPr>
          <a:xfrm>
            <a:off x="502920" y="1207080"/>
            <a:ext cx="11155320" cy="996480"/>
          </a:xfrm>
          <a:prstGeom prst="roundRect">
            <a:avLst>
              <a:gd name="adj" fmla="val 11009"/>
            </a:avLst>
          </a:prstGeom>
          <a:solidFill>
            <a:srgbClr val="f5f8fc"/>
          </a:solidFill>
          <a:ln w="11520">
            <a:solidFill>
              <a:srgbClr val="dce8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CustomShape 10"/>
          <p:cNvSpPr/>
          <p:nvPr/>
        </p:nvSpPr>
        <p:spPr>
          <a:xfrm>
            <a:off x="704160" y="1316880"/>
            <a:ext cx="283428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8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4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01  </a:t>
            </a:r>
            <a:r>
              <a:rPr b="1" lang="zh-CN" sz="134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知识与业务支撑层</a:t>
            </a:r>
            <a:endParaRPr b="0" lang="en-US" sz="1340" spc="-1" strike="noStrike">
              <a:latin typeface="Arial"/>
            </a:endParaRPr>
          </a:p>
        </p:txBody>
      </p:sp>
      <p:sp>
        <p:nvSpPr>
          <p:cNvPr id="87" name="CustomShape 11"/>
          <p:cNvSpPr/>
          <p:nvPr/>
        </p:nvSpPr>
        <p:spPr>
          <a:xfrm>
            <a:off x="3136320" y="1325880"/>
            <a:ext cx="193824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12"/>
          <p:cNvSpPr/>
          <p:nvPr/>
        </p:nvSpPr>
        <p:spPr>
          <a:xfrm>
            <a:off x="3246120" y="1408320"/>
            <a:ext cx="17370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2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多格式文档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89" name="CustomShape 13"/>
          <p:cNvSpPr/>
          <p:nvPr/>
        </p:nvSpPr>
        <p:spPr>
          <a:xfrm>
            <a:off x="3246120" y="1710000"/>
            <a:ext cx="173700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PDF / Excel / MD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0" name="Line 14"/>
          <p:cNvSpPr/>
          <p:nvPr/>
        </p:nvSpPr>
        <p:spPr>
          <a:xfrm>
            <a:off x="5083920" y="1691640"/>
            <a:ext cx="100440" cy="0"/>
          </a:xfrm>
          <a:prstGeom prst="line">
            <a:avLst/>
          </a:prstGeom>
          <a:ln w="14040">
            <a:solidFill>
              <a:srgbClr val="8c9d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CustomShape 15"/>
          <p:cNvSpPr/>
          <p:nvPr/>
        </p:nvSpPr>
        <p:spPr>
          <a:xfrm>
            <a:off x="5203080" y="1325880"/>
            <a:ext cx="193824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CustomShape 16"/>
          <p:cNvSpPr/>
          <p:nvPr/>
        </p:nvSpPr>
        <p:spPr>
          <a:xfrm>
            <a:off x="5312520" y="1408320"/>
            <a:ext cx="17370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2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解析清洗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93" name="CustomShape 17"/>
          <p:cNvSpPr/>
          <p:nvPr/>
        </p:nvSpPr>
        <p:spPr>
          <a:xfrm>
            <a:off x="5312520" y="1710000"/>
            <a:ext cx="173700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页码 </a:t>
            </a: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/ </a:t>
            </a: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行号保留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4" name="Line 18"/>
          <p:cNvSpPr/>
          <p:nvPr/>
        </p:nvSpPr>
        <p:spPr>
          <a:xfrm>
            <a:off x="7150320" y="1691640"/>
            <a:ext cx="100800" cy="0"/>
          </a:xfrm>
          <a:prstGeom prst="line">
            <a:avLst/>
          </a:prstGeom>
          <a:ln w="14040">
            <a:solidFill>
              <a:srgbClr val="8c9d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CustomShape 19"/>
          <p:cNvSpPr/>
          <p:nvPr/>
        </p:nvSpPr>
        <p:spPr>
          <a:xfrm>
            <a:off x="7269480" y="1325880"/>
            <a:ext cx="193824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CustomShape 20"/>
          <p:cNvSpPr/>
          <p:nvPr/>
        </p:nvSpPr>
        <p:spPr>
          <a:xfrm>
            <a:off x="7379280" y="1408320"/>
            <a:ext cx="17370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BGE</a:t>
            </a:r>
            <a:r>
              <a:rPr b="1" lang="zh-CN" sz="12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向量化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97" name="CustomShape 21"/>
          <p:cNvSpPr/>
          <p:nvPr/>
        </p:nvSpPr>
        <p:spPr>
          <a:xfrm>
            <a:off x="7379280" y="1710000"/>
            <a:ext cx="173700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420</a:t>
            </a: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字切片 </a:t>
            </a: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80</a:t>
            </a: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字重叠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" name="Line 22"/>
          <p:cNvSpPr/>
          <p:nvPr/>
        </p:nvSpPr>
        <p:spPr>
          <a:xfrm>
            <a:off x="9217080" y="1691640"/>
            <a:ext cx="100440" cy="0"/>
          </a:xfrm>
          <a:prstGeom prst="line">
            <a:avLst/>
          </a:prstGeom>
          <a:ln w="14040">
            <a:solidFill>
              <a:srgbClr val="8c9d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CustomShape 23"/>
          <p:cNvSpPr/>
          <p:nvPr/>
        </p:nvSpPr>
        <p:spPr>
          <a:xfrm>
            <a:off x="9335880" y="1325880"/>
            <a:ext cx="193824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CustomShape 24"/>
          <p:cNvSpPr/>
          <p:nvPr/>
        </p:nvSpPr>
        <p:spPr>
          <a:xfrm>
            <a:off x="9445680" y="1408320"/>
            <a:ext cx="17370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FAISS</a:t>
            </a:r>
            <a:r>
              <a:rPr b="1" lang="zh-CN" sz="12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索引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101" name="CustomShape 25"/>
          <p:cNvSpPr/>
          <p:nvPr/>
        </p:nvSpPr>
        <p:spPr>
          <a:xfrm>
            <a:off x="9445680" y="1710000"/>
            <a:ext cx="173700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检索 </a:t>
            </a: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+ </a:t>
            </a: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元数据溯源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2" name="CustomShape 26"/>
          <p:cNvSpPr/>
          <p:nvPr/>
        </p:nvSpPr>
        <p:spPr>
          <a:xfrm>
            <a:off x="502920" y="2377440"/>
            <a:ext cx="11155320" cy="30628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520">
            <a:solidFill>
              <a:srgbClr val="bfd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CustomShape 27"/>
          <p:cNvSpPr/>
          <p:nvPr/>
        </p:nvSpPr>
        <p:spPr>
          <a:xfrm>
            <a:off x="704160" y="2487240"/>
            <a:ext cx="3794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4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02  Agent</a:t>
            </a:r>
            <a:r>
              <a:rPr b="1" lang="zh-CN" sz="134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运行核心层</a:t>
            </a:r>
            <a:endParaRPr b="0" lang="en-US" sz="1340" spc="-1" strike="noStrike">
              <a:latin typeface="Arial"/>
            </a:endParaRPr>
          </a:p>
        </p:txBody>
      </p:sp>
      <p:sp>
        <p:nvSpPr>
          <p:cNvPr id="104" name="CustomShape 28"/>
          <p:cNvSpPr/>
          <p:nvPr/>
        </p:nvSpPr>
        <p:spPr>
          <a:xfrm>
            <a:off x="758880" y="3054240"/>
            <a:ext cx="1508400" cy="785880"/>
          </a:xfrm>
          <a:prstGeom prst="roundRect">
            <a:avLst>
              <a:gd name="adj" fmla="val 13953"/>
            </a:avLst>
          </a:prstGeom>
          <a:solidFill>
            <a:srgbClr val="eaf2fc"/>
          </a:solidFill>
          <a:ln w="11520">
            <a:solidFill>
              <a:srgbClr val="c4d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CustomShape 29"/>
          <p:cNvSpPr/>
          <p:nvPr/>
        </p:nvSpPr>
        <p:spPr>
          <a:xfrm>
            <a:off x="841320" y="3200400"/>
            <a:ext cx="134388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前端持续监听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6" name="CustomShape 30"/>
          <p:cNvSpPr/>
          <p:nvPr/>
        </p:nvSpPr>
        <p:spPr>
          <a:xfrm>
            <a:off x="804600" y="3529440"/>
            <a:ext cx="141696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语音 </a:t>
            </a: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/ WebSocket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7" name="CustomShape 31"/>
          <p:cNvSpPr/>
          <p:nvPr/>
        </p:nvSpPr>
        <p:spPr>
          <a:xfrm>
            <a:off x="2487240" y="3054240"/>
            <a:ext cx="1389600" cy="785880"/>
          </a:xfrm>
          <a:prstGeom prst="roundRect">
            <a:avLst>
              <a:gd name="adj" fmla="val 13953"/>
            </a:avLst>
          </a:prstGeom>
          <a:solidFill>
            <a:srgbClr val="eaf2fc"/>
          </a:solidFill>
          <a:ln w="11520">
            <a:solidFill>
              <a:srgbClr val="c4d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32"/>
          <p:cNvSpPr/>
          <p:nvPr/>
        </p:nvSpPr>
        <p:spPr>
          <a:xfrm>
            <a:off x="2569320" y="3200400"/>
            <a:ext cx="122508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VAD + ASR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9" name="CustomShape 33"/>
          <p:cNvSpPr/>
          <p:nvPr/>
        </p:nvSpPr>
        <p:spPr>
          <a:xfrm>
            <a:off x="2532960" y="3529440"/>
            <a:ext cx="129816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语音识别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0" name="Line 34"/>
          <p:cNvSpPr/>
          <p:nvPr/>
        </p:nvSpPr>
        <p:spPr>
          <a:xfrm>
            <a:off x="2267640" y="3438000"/>
            <a:ext cx="164520" cy="0"/>
          </a:xfrm>
          <a:prstGeom prst="line">
            <a:avLst/>
          </a:prstGeom>
          <a:ln w="20160">
            <a:solidFill>
              <a:srgbClr val="3576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CustomShape 35"/>
          <p:cNvSpPr/>
          <p:nvPr/>
        </p:nvSpPr>
        <p:spPr>
          <a:xfrm>
            <a:off x="4142160" y="3054240"/>
            <a:ext cx="1572480" cy="785880"/>
          </a:xfrm>
          <a:prstGeom prst="roundRect">
            <a:avLst>
              <a:gd name="adj" fmla="val 13953"/>
            </a:avLst>
          </a:prstGeom>
          <a:solidFill>
            <a:srgbClr val="eaf2fc"/>
          </a:solidFill>
          <a:ln w="11520">
            <a:solidFill>
              <a:srgbClr val="c4d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36"/>
          <p:cNvSpPr/>
          <p:nvPr/>
        </p:nvSpPr>
        <p:spPr>
          <a:xfrm>
            <a:off x="4224600" y="3200400"/>
            <a:ext cx="14079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快思考层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3" name="CustomShape 37"/>
          <p:cNvSpPr/>
          <p:nvPr/>
        </p:nvSpPr>
        <p:spPr>
          <a:xfrm>
            <a:off x="4187880" y="3529440"/>
            <a:ext cx="148104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意图 </a:t>
            </a: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/ </a:t>
            </a: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条件 </a:t>
            </a:r>
            <a:r>
              <a:rPr b="0" lang="en-US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/ </a:t>
            </a:r>
            <a:r>
              <a:rPr b="0" lang="zh-CN" sz="9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状态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4" name="Line 38"/>
          <p:cNvSpPr/>
          <p:nvPr/>
        </p:nvSpPr>
        <p:spPr>
          <a:xfrm>
            <a:off x="3876840" y="3438000"/>
            <a:ext cx="210240" cy="0"/>
          </a:xfrm>
          <a:prstGeom prst="line">
            <a:avLst/>
          </a:prstGeom>
          <a:ln w="20160">
            <a:solidFill>
              <a:srgbClr val="3576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39"/>
          <p:cNvSpPr/>
          <p:nvPr/>
        </p:nvSpPr>
        <p:spPr>
          <a:xfrm>
            <a:off x="5879520" y="2834640"/>
            <a:ext cx="1096920" cy="282960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520">
            <a:solidFill>
              <a:srgbClr val="eaf2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40"/>
          <p:cNvSpPr/>
          <p:nvPr/>
        </p:nvSpPr>
        <p:spPr>
          <a:xfrm>
            <a:off x="5980320" y="2862000"/>
            <a:ext cx="8956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0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问题路由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7" name="Line 41"/>
          <p:cNvSpPr/>
          <p:nvPr/>
        </p:nvSpPr>
        <p:spPr>
          <a:xfrm>
            <a:off x="5742360" y="3438000"/>
            <a:ext cx="292680" cy="0"/>
          </a:xfrm>
          <a:prstGeom prst="line">
            <a:avLst/>
          </a:prstGeom>
          <a:ln w="20160">
            <a:solidFill>
              <a:srgbClr val="3576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Line 42"/>
          <p:cNvSpPr/>
          <p:nvPr/>
        </p:nvSpPr>
        <p:spPr>
          <a:xfrm>
            <a:off x="6035040" y="3438000"/>
            <a:ext cx="0" cy="786240"/>
          </a:xfrm>
          <a:prstGeom prst="line">
            <a:avLst/>
          </a:prstGeom>
          <a:ln w="19080">
            <a:solidFill>
              <a:srgbClr val="3576b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Line 43"/>
          <p:cNvSpPr/>
          <p:nvPr/>
        </p:nvSpPr>
        <p:spPr>
          <a:xfrm>
            <a:off x="6035040" y="3236760"/>
            <a:ext cx="429480" cy="0"/>
          </a:xfrm>
          <a:prstGeom prst="line">
            <a:avLst/>
          </a:prstGeom>
          <a:ln w="20160">
            <a:solidFill>
              <a:srgbClr val="1980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Line 44"/>
          <p:cNvSpPr/>
          <p:nvPr/>
        </p:nvSpPr>
        <p:spPr>
          <a:xfrm>
            <a:off x="6035040" y="4196880"/>
            <a:ext cx="429480" cy="0"/>
          </a:xfrm>
          <a:prstGeom prst="line">
            <a:avLst/>
          </a:prstGeom>
          <a:ln w="20160">
            <a:solidFill>
              <a:srgbClr val="3576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CustomShape 45"/>
          <p:cNvSpPr/>
          <p:nvPr/>
        </p:nvSpPr>
        <p:spPr>
          <a:xfrm>
            <a:off x="6492240" y="2962800"/>
            <a:ext cx="1974600" cy="694440"/>
          </a:xfrm>
          <a:prstGeom prst="roundRect">
            <a:avLst>
              <a:gd name="adj" fmla="val 15789"/>
            </a:avLst>
          </a:prstGeom>
          <a:solidFill>
            <a:srgbClr val="e7f5f1"/>
          </a:solidFill>
          <a:ln w="11520">
            <a:solidFill>
              <a:srgbClr val="b9db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46"/>
          <p:cNvSpPr/>
          <p:nvPr/>
        </p:nvSpPr>
        <p:spPr>
          <a:xfrm>
            <a:off x="6629400" y="3054240"/>
            <a:ext cx="16272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快速路径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3" name="CustomShape 47"/>
          <p:cNvSpPr/>
          <p:nvPr/>
        </p:nvSpPr>
        <p:spPr>
          <a:xfrm>
            <a:off x="6602040" y="3346560"/>
            <a:ext cx="1700280" cy="14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zh-CN" sz="8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简单问答 </a:t>
            </a:r>
            <a:r>
              <a:rPr b="0" lang="en-US" sz="8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</a:t>
            </a:r>
            <a:r>
              <a:rPr b="0" lang="zh-CN" sz="8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快速回复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24" name="CustomShape 48"/>
          <p:cNvSpPr/>
          <p:nvPr/>
        </p:nvSpPr>
        <p:spPr>
          <a:xfrm>
            <a:off x="6492240" y="3904560"/>
            <a:ext cx="1974600" cy="758520"/>
          </a:xfrm>
          <a:prstGeom prst="roundRect">
            <a:avLst>
              <a:gd name="adj" fmla="val 14458"/>
            </a:avLst>
          </a:prstGeom>
          <a:solidFill>
            <a:srgbClr val="f1efff"/>
          </a:solidFill>
          <a:ln w="11520">
            <a:solidFill>
              <a:srgbClr val="d7ce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49"/>
          <p:cNvSpPr/>
          <p:nvPr/>
        </p:nvSpPr>
        <p:spPr>
          <a:xfrm>
            <a:off x="6620400" y="3986640"/>
            <a:ext cx="1672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6f57a9"/>
                </a:solidFill>
                <a:latin typeface="Microsoft YaHei"/>
                <a:ea typeface="Microsoft YaHei"/>
              </a:rPr>
              <a:t>慢思考路径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6" name="CustomShape 50"/>
          <p:cNvSpPr/>
          <p:nvPr/>
        </p:nvSpPr>
        <p:spPr>
          <a:xfrm>
            <a:off x="6592680" y="4325040"/>
            <a:ext cx="1737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RAG · </a:t>
            </a:r>
            <a:r>
              <a:rPr b="0" lang="zh-CN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规则 </a:t>
            </a: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</a:t>
            </a:r>
            <a:r>
              <a:rPr b="0" lang="zh-CN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历史查询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27" name="Line 51"/>
          <p:cNvSpPr/>
          <p:nvPr/>
        </p:nvSpPr>
        <p:spPr>
          <a:xfrm>
            <a:off x="8485560" y="3300840"/>
            <a:ext cx="246960" cy="0"/>
          </a:xfrm>
          <a:prstGeom prst="line">
            <a:avLst/>
          </a:prstGeom>
          <a:ln w="20160">
            <a:solidFill>
              <a:srgbClr val="1980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Line 52"/>
          <p:cNvSpPr/>
          <p:nvPr/>
        </p:nvSpPr>
        <p:spPr>
          <a:xfrm>
            <a:off x="8613360" y="3300840"/>
            <a:ext cx="0" cy="960120"/>
          </a:xfrm>
          <a:prstGeom prst="line">
            <a:avLst/>
          </a:prstGeom>
          <a:ln w="15120">
            <a:solidFill>
              <a:srgbClr val="3576b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Line 53"/>
          <p:cNvSpPr/>
          <p:nvPr/>
        </p:nvSpPr>
        <p:spPr>
          <a:xfrm>
            <a:off x="8485560" y="4269960"/>
            <a:ext cx="246960" cy="0"/>
          </a:xfrm>
          <a:prstGeom prst="line">
            <a:avLst/>
          </a:prstGeom>
          <a:ln w="20160">
            <a:solidFill>
              <a:srgbClr val="3576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CustomShape 54"/>
          <p:cNvSpPr/>
          <p:nvPr/>
        </p:nvSpPr>
        <p:spPr>
          <a:xfrm>
            <a:off x="8823960" y="3310200"/>
            <a:ext cx="1481040" cy="978120"/>
          </a:xfrm>
          <a:prstGeom prst="roundRect">
            <a:avLst>
              <a:gd name="adj" fmla="val 11215"/>
            </a:avLst>
          </a:prstGeom>
          <a:solidFill>
            <a:srgbClr val="eaf2fc"/>
          </a:solidFill>
          <a:ln w="11520">
            <a:solidFill>
              <a:srgbClr val="c4d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CustomShape 55"/>
          <p:cNvSpPr/>
          <p:nvPr/>
        </p:nvSpPr>
        <p:spPr>
          <a:xfrm>
            <a:off x="8924400" y="3520440"/>
            <a:ext cx="1243080" cy="20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28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证据与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32" name="CustomShape 56"/>
          <p:cNvSpPr/>
          <p:nvPr/>
        </p:nvSpPr>
        <p:spPr>
          <a:xfrm>
            <a:off x="8924400" y="3785760"/>
            <a:ext cx="1243080" cy="20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28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条件校验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33" name="Line 57"/>
          <p:cNvSpPr/>
          <p:nvPr/>
        </p:nvSpPr>
        <p:spPr>
          <a:xfrm>
            <a:off x="10332720" y="3803760"/>
            <a:ext cx="219240" cy="0"/>
          </a:xfrm>
          <a:prstGeom prst="line">
            <a:avLst/>
          </a:prstGeom>
          <a:ln w="20160">
            <a:solidFill>
              <a:srgbClr val="3576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CustomShape 58"/>
          <p:cNvSpPr/>
          <p:nvPr/>
        </p:nvSpPr>
        <p:spPr>
          <a:xfrm>
            <a:off x="10579680" y="3310200"/>
            <a:ext cx="877320" cy="978120"/>
          </a:xfrm>
          <a:prstGeom prst="roundRect">
            <a:avLst>
              <a:gd name="adj" fmla="val 12500"/>
            </a:avLst>
          </a:prstGeom>
          <a:solidFill>
            <a:srgbClr val="e7f5f1"/>
          </a:solidFill>
          <a:ln w="11520">
            <a:solidFill>
              <a:srgbClr val="b9db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CustomShape 59"/>
          <p:cNvSpPr/>
          <p:nvPr/>
        </p:nvSpPr>
        <p:spPr>
          <a:xfrm>
            <a:off x="10661760" y="3456360"/>
            <a:ext cx="712800" cy="20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21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流式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36" name="CustomShape 60"/>
          <p:cNvSpPr/>
          <p:nvPr/>
        </p:nvSpPr>
        <p:spPr>
          <a:xfrm>
            <a:off x="10661760" y="3712320"/>
            <a:ext cx="7128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TTS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CustomShape 61"/>
          <p:cNvSpPr/>
          <p:nvPr/>
        </p:nvSpPr>
        <p:spPr>
          <a:xfrm>
            <a:off x="8641080" y="4672440"/>
            <a:ext cx="2761200" cy="282960"/>
          </a:xfrm>
          <a:prstGeom prst="roundRect">
            <a:avLst>
              <a:gd name="adj" fmla="val 25806"/>
            </a:avLst>
          </a:prstGeom>
          <a:solidFill>
            <a:srgbClr val="f2f6fb"/>
          </a:solidFill>
          <a:ln w="11520">
            <a:solidFill>
              <a:srgbClr val="f2f6f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CustomShape 62"/>
          <p:cNvSpPr/>
          <p:nvPr/>
        </p:nvSpPr>
        <p:spPr>
          <a:xfrm>
            <a:off x="8741520" y="4700160"/>
            <a:ext cx="25599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Answer · Clarify · Handoff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139" name="CustomShape 63"/>
          <p:cNvSpPr/>
          <p:nvPr/>
        </p:nvSpPr>
        <p:spPr>
          <a:xfrm>
            <a:off x="758880" y="4617720"/>
            <a:ext cx="5284800" cy="502560"/>
          </a:xfrm>
          <a:prstGeom prst="roundRect">
            <a:avLst>
              <a:gd name="adj" fmla="val 21818"/>
            </a:avLst>
          </a:prstGeom>
          <a:solidFill>
            <a:srgbClr val="f4f7fc"/>
          </a:solidFill>
          <a:ln w="11520">
            <a:solidFill>
              <a:srgbClr val="f4f7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CustomShape 64"/>
          <p:cNvSpPr/>
          <p:nvPr/>
        </p:nvSpPr>
        <p:spPr>
          <a:xfrm>
            <a:off x="914400" y="4700160"/>
            <a:ext cx="50288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0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用户插话 → 取消旧生成 </a:t>
            </a:r>
            <a:r>
              <a:rPr b="1" lang="en-US" sz="10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/ TTS → context_version</a:t>
            </a:r>
            <a:r>
              <a:rPr b="1" lang="zh-CN" sz="10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更新 → 重入识别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41" name="CustomShape 65"/>
          <p:cNvSpPr/>
          <p:nvPr/>
        </p:nvSpPr>
        <p:spPr>
          <a:xfrm>
            <a:off x="502920" y="5577840"/>
            <a:ext cx="11155320" cy="712800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66"/>
          <p:cNvSpPr/>
          <p:nvPr/>
        </p:nvSpPr>
        <p:spPr>
          <a:xfrm>
            <a:off x="704160" y="5696640"/>
            <a:ext cx="25142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4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03  </a:t>
            </a:r>
            <a:r>
              <a:rPr b="1" lang="zh-CN" sz="134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状态与验证层</a:t>
            </a:r>
            <a:endParaRPr b="0" lang="en-US" sz="1340" spc="-1" strike="noStrike">
              <a:latin typeface="Arial"/>
            </a:endParaRPr>
          </a:p>
        </p:txBody>
      </p:sp>
      <p:sp>
        <p:nvSpPr>
          <p:cNvPr id="143" name="CustomShape 67"/>
          <p:cNvSpPr/>
          <p:nvPr/>
        </p:nvSpPr>
        <p:spPr>
          <a:xfrm>
            <a:off x="3182040" y="5724000"/>
            <a:ext cx="81835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SQLite</a:t>
            </a:r>
            <a:r>
              <a:rPr b="0" lang="zh-CN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会话  </a:t>
            </a:r>
            <a:r>
              <a:rPr b="0" lang="en-US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 context_version  ·  </a:t>
            </a:r>
            <a:r>
              <a:rPr b="0" lang="zh-CN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任务取消  </a:t>
            </a:r>
            <a:r>
              <a:rPr b="0" lang="en-US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 ASR / RAG / </a:t>
            </a:r>
            <a:r>
              <a:rPr b="0" lang="zh-CN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首响日志  </a:t>
            </a:r>
            <a:r>
              <a:rPr b="0" lang="en-US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 </a:t>
            </a:r>
            <a:r>
              <a:rPr b="0" lang="zh-CN" sz="114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来源校验</a:t>
            </a:r>
            <a:endParaRPr b="0" lang="en-US" sz="114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Custom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CustomShape 3"/>
          <p:cNvSpPr/>
          <p:nvPr/>
        </p:nvSpPr>
        <p:spPr>
          <a:xfrm>
            <a:off x="502920" y="338400"/>
            <a:ext cx="1014948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全双工交互：语音插话与上下文一致性保障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47" name="CustomShape 4"/>
          <p:cNvSpPr/>
          <p:nvPr/>
        </p:nvSpPr>
        <p:spPr>
          <a:xfrm>
            <a:off x="521280" y="850320"/>
            <a:ext cx="10240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从停止旧播报到识别新问题，任务取消与状态继承贯穿整条链路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48" name="CustomShape 5"/>
          <p:cNvSpPr/>
          <p:nvPr/>
        </p:nvSpPr>
        <p:spPr>
          <a:xfrm>
            <a:off x="10927080" y="411480"/>
            <a:ext cx="7768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03 / 06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9" name="CustomShape 6"/>
          <p:cNvSpPr/>
          <p:nvPr/>
        </p:nvSpPr>
        <p:spPr>
          <a:xfrm>
            <a:off x="502920" y="6483240"/>
            <a:ext cx="11155320" cy="10440"/>
          </a:xfrm>
          <a:prstGeom prst="rect">
            <a:avLst/>
          </a:prstGeom>
          <a:solidFill>
            <a:srgbClr val="dee8f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CustomShape 7"/>
          <p:cNvSpPr/>
          <p:nvPr/>
        </p:nvSpPr>
        <p:spPr>
          <a:xfrm>
            <a:off x="502920" y="6528960"/>
            <a:ext cx="566892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OPEN-JS-01  ·  </a:t>
            </a:r>
            <a:r>
              <a:rPr b="0" lang="zh-CN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初赛项目汇报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10744200" y="6528960"/>
            <a:ext cx="895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2026.10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52" name="CustomShape 9"/>
          <p:cNvSpPr/>
          <p:nvPr/>
        </p:nvSpPr>
        <p:spPr>
          <a:xfrm>
            <a:off x="612720" y="1271160"/>
            <a:ext cx="5486040" cy="28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用户插话的处理时间线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502920" y="1691640"/>
            <a:ext cx="6811920" cy="3410280"/>
          </a:xfrm>
          <a:prstGeom prst="roundRect">
            <a:avLst>
              <a:gd name="adj" fmla="val 3217"/>
            </a:avLst>
          </a:prstGeom>
          <a:solidFill>
            <a:srgbClr val="f8fafd"/>
          </a:solidFill>
          <a:ln w="11520">
            <a:solidFill>
              <a:srgbClr val="dfe8f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CustomShape 11"/>
          <p:cNvSpPr/>
          <p:nvPr/>
        </p:nvSpPr>
        <p:spPr>
          <a:xfrm>
            <a:off x="777240" y="1993320"/>
            <a:ext cx="310680" cy="310680"/>
          </a:xfrm>
          <a:prstGeom prst="ellipse">
            <a:avLst/>
          </a:prstGeom>
          <a:solidFill>
            <a:srgbClr val="3576bd"/>
          </a:solidFill>
          <a:ln w="12600">
            <a:solidFill>
              <a:srgbClr val="3576b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12"/>
          <p:cNvSpPr/>
          <p:nvPr/>
        </p:nvSpPr>
        <p:spPr>
          <a:xfrm>
            <a:off x="777240" y="2002680"/>
            <a:ext cx="310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1271160" y="1892880"/>
            <a:ext cx="545868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3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Agent</a:t>
            </a:r>
            <a:r>
              <a:rPr b="1" lang="zh-CN" sz="153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流式播报</a:t>
            </a:r>
            <a:endParaRPr b="0" lang="en-US" sz="1530" spc="-1" strike="noStrike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1271160" y="2231280"/>
            <a:ext cx="548604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旧回答正在通过</a:t>
            </a:r>
            <a:r>
              <a:rPr b="0" lang="en-US" sz="10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TTS</a:t>
            </a:r>
            <a:r>
              <a:rPr b="0" lang="zh-CN" sz="10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播放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158" name="Line 15"/>
          <p:cNvSpPr/>
          <p:nvPr/>
        </p:nvSpPr>
        <p:spPr>
          <a:xfrm>
            <a:off x="932400" y="2313360"/>
            <a:ext cx="0" cy="320040"/>
          </a:xfrm>
          <a:prstGeom prst="line">
            <a:avLst/>
          </a:prstGeom>
          <a:ln w="30600">
            <a:solidFill>
              <a:srgbClr val="b9ce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CustomShape 16"/>
          <p:cNvSpPr/>
          <p:nvPr/>
        </p:nvSpPr>
        <p:spPr>
          <a:xfrm>
            <a:off x="777240" y="2770560"/>
            <a:ext cx="310680" cy="310680"/>
          </a:xfrm>
          <a:prstGeom prst="ellipse">
            <a:avLst/>
          </a:prstGeom>
          <a:solidFill>
            <a:srgbClr val="d59a43"/>
          </a:solidFill>
          <a:ln w="12600">
            <a:solidFill>
              <a:srgbClr val="d59a4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CustomShape 17"/>
          <p:cNvSpPr/>
          <p:nvPr/>
        </p:nvSpPr>
        <p:spPr>
          <a:xfrm>
            <a:off x="777240" y="2779920"/>
            <a:ext cx="310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1271160" y="2670120"/>
            <a:ext cx="545868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3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用户插话触发</a:t>
            </a:r>
            <a:endParaRPr b="0" lang="en-US" sz="1530" spc="-1" strike="noStrike">
              <a:latin typeface="Arial"/>
            </a:endParaRPr>
          </a:p>
        </p:txBody>
      </p:sp>
      <p:sp>
        <p:nvSpPr>
          <p:cNvPr id="162" name="CustomShape 19"/>
          <p:cNvSpPr/>
          <p:nvPr/>
        </p:nvSpPr>
        <p:spPr>
          <a:xfrm>
            <a:off x="1271160" y="3008520"/>
            <a:ext cx="548604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中止旧音频，并接收新的用户语音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163" name="Line 20"/>
          <p:cNvSpPr/>
          <p:nvPr/>
        </p:nvSpPr>
        <p:spPr>
          <a:xfrm>
            <a:off x="932400" y="3090600"/>
            <a:ext cx="0" cy="320040"/>
          </a:xfrm>
          <a:prstGeom prst="line">
            <a:avLst/>
          </a:prstGeom>
          <a:ln w="30600">
            <a:solidFill>
              <a:srgbClr val="b9ce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21"/>
          <p:cNvSpPr/>
          <p:nvPr/>
        </p:nvSpPr>
        <p:spPr>
          <a:xfrm>
            <a:off x="777240" y="3547800"/>
            <a:ext cx="310680" cy="310680"/>
          </a:xfrm>
          <a:prstGeom prst="ellipse">
            <a:avLst/>
          </a:prstGeom>
          <a:solidFill>
            <a:srgbClr val="3576bd"/>
          </a:solidFill>
          <a:ln w="12600">
            <a:solidFill>
              <a:srgbClr val="3576b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22"/>
          <p:cNvSpPr/>
          <p:nvPr/>
        </p:nvSpPr>
        <p:spPr>
          <a:xfrm>
            <a:off x="777240" y="3557160"/>
            <a:ext cx="310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6" name="CustomShape 23"/>
          <p:cNvSpPr/>
          <p:nvPr/>
        </p:nvSpPr>
        <p:spPr>
          <a:xfrm>
            <a:off x="1271160" y="3447360"/>
            <a:ext cx="545868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3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状态与任务更新</a:t>
            </a:r>
            <a:endParaRPr b="0" lang="en-US" sz="1530" spc="-1" strike="noStrike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1271160" y="3785760"/>
            <a:ext cx="548604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取消旧任务，保留已确认的条件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168" name="Line 25"/>
          <p:cNvSpPr/>
          <p:nvPr/>
        </p:nvSpPr>
        <p:spPr>
          <a:xfrm>
            <a:off x="932400" y="3867840"/>
            <a:ext cx="0" cy="320040"/>
          </a:xfrm>
          <a:prstGeom prst="line">
            <a:avLst/>
          </a:prstGeom>
          <a:ln w="30600">
            <a:solidFill>
              <a:srgbClr val="b9ce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26"/>
          <p:cNvSpPr/>
          <p:nvPr/>
        </p:nvSpPr>
        <p:spPr>
          <a:xfrm>
            <a:off x="777240" y="4325040"/>
            <a:ext cx="310680" cy="310680"/>
          </a:xfrm>
          <a:prstGeom prst="ellipse">
            <a:avLst/>
          </a:prstGeom>
          <a:solidFill>
            <a:srgbClr val="19806d"/>
          </a:solidFill>
          <a:ln w="12600">
            <a:solidFill>
              <a:srgbClr val="1980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27"/>
          <p:cNvSpPr/>
          <p:nvPr/>
        </p:nvSpPr>
        <p:spPr>
          <a:xfrm>
            <a:off x="777240" y="4334400"/>
            <a:ext cx="310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1271160" y="4224600"/>
            <a:ext cx="545868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3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重新识别与应答</a:t>
            </a:r>
            <a:endParaRPr b="0" lang="en-US" sz="1530" spc="-1" strike="noStrike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271160" y="4563000"/>
            <a:ext cx="548604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ASR → </a:t>
            </a:r>
            <a:r>
              <a:rPr b="0" lang="zh-CN" sz="108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快慢思考路由 → 新语音回答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7635240" y="1271160"/>
            <a:ext cx="39499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9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核心工程机制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4" name="CustomShape 31"/>
          <p:cNvSpPr/>
          <p:nvPr/>
        </p:nvSpPr>
        <p:spPr>
          <a:xfrm>
            <a:off x="7607880" y="170064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32"/>
          <p:cNvSpPr/>
          <p:nvPr/>
        </p:nvSpPr>
        <p:spPr>
          <a:xfrm>
            <a:off x="7607880" y="1700640"/>
            <a:ext cx="54360" cy="71280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33"/>
          <p:cNvSpPr/>
          <p:nvPr/>
        </p:nvSpPr>
        <p:spPr>
          <a:xfrm>
            <a:off x="7863840" y="1783080"/>
            <a:ext cx="35931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语音输入管理</a:t>
            </a:r>
            <a:endParaRPr b="0" lang="en-US" sz="1370" spc="-1" strike="noStrike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7863840" y="2066400"/>
            <a:ext cx="359316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VAD</a:t>
            </a: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检测与新意图识别</a:t>
            </a:r>
            <a:endParaRPr b="0" lang="en-US" sz="1010" spc="-1" strike="noStrike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7607880" y="256032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36"/>
          <p:cNvSpPr/>
          <p:nvPr/>
        </p:nvSpPr>
        <p:spPr>
          <a:xfrm>
            <a:off x="7607880" y="2560320"/>
            <a:ext cx="54360" cy="71280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37"/>
          <p:cNvSpPr/>
          <p:nvPr/>
        </p:nvSpPr>
        <p:spPr>
          <a:xfrm>
            <a:off x="7863840" y="2642760"/>
            <a:ext cx="35931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统一任务取消</a:t>
            </a:r>
            <a:endParaRPr b="0" lang="en-US" sz="1370" spc="-1" strike="noStrike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7863840" y="2926080"/>
            <a:ext cx="359316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停止旧生成和未播完</a:t>
            </a:r>
            <a:r>
              <a:rPr b="0" lang="en-US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TTS</a:t>
            </a:r>
            <a:endParaRPr b="0" lang="en-US" sz="1010" spc="-1" strike="noStrike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7607880" y="342000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40"/>
          <p:cNvSpPr/>
          <p:nvPr/>
        </p:nvSpPr>
        <p:spPr>
          <a:xfrm>
            <a:off x="7607880" y="3420000"/>
            <a:ext cx="54360" cy="712800"/>
          </a:xfrm>
          <a:prstGeom prst="rect">
            <a:avLst/>
          </a:prstGeom>
          <a:solidFill>
            <a:srgbClr val="19806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CustomShape 41"/>
          <p:cNvSpPr/>
          <p:nvPr/>
        </p:nvSpPr>
        <p:spPr>
          <a:xfrm>
            <a:off x="7863840" y="3502080"/>
            <a:ext cx="35931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上下文版本管理</a:t>
            </a:r>
            <a:endParaRPr b="0" lang="en-US" sz="1370" spc="-1" strike="noStrike">
              <a:latin typeface="Arial"/>
            </a:endParaRPr>
          </a:p>
        </p:txBody>
      </p:sp>
      <p:sp>
        <p:nvSpPr>
          <p:cNvPr id="185" name="CustomShape 42"/>
          <p:cNvSpPr/>
          <p:nvPr/>
        </p:nvSpPr>
        <p:spPr>
          <a:xfrm>
            <a:off x="7863840" y="3785760"/>
            <a:ext cx="359316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context_version</a:t>
            </a: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防状态混乱</a:t>
            </a:r>
            <a:endParaRPr b="0" lang="en-US" sz="1010" spc="-1" strike="noStrike">
              <a:latin typeface="Arial"/>
            </a:endParaRPr>
          </a:p>
        </p:txBody>
      </p:sp>
      <p:sp>
        <p:nvSpPr>
          <p:cNvPr id="186" name="CustomShape 43"/>
          <p:cNvSpPr/>
          <p:nvPr/>
        </p:nvSpPr>
        <p:spPr>
          <a:xfrm>
            <a:off x="7607880" y="4279320"/>
            <a:ext cx="4068720" cy="712800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CustomShape 44"/>
          <p:cNvSpPr/>
          <p:nvPr/>
        </p:nvSpPr>
        <p:spPr>
          <a:xfrm>
            <a:off x="7607880" y="4279320"/>
            <a:ext cx="54360" cy="71280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CustomShape 45"/>
          <p:cNvSpPr/>
          <p:nvPr/>
        </p:nvSpPr>
        <p:spPr>
          <a:xfrm>
            <a:off x="7863840" y="4361760"/>
            <a:ext cx="35931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状态复用</a:t>
            </a:r>
            <a:endParaRPr b="0" lang="en-US" sz="1370" spc="-1" strike="noStrike">
              <a:latin typeface="Arial"/>
            </a:endParaRPr>
          </a:p>
        </p:txBody>
      </p:sp>
      <p:sp>
        <p:nvSpPr>
          <p:cNvPr id="189" name="CustomShape 46"/>
          <p:cNvSpPr/>
          <p:nvPr/>
        </p:nvSpPr>
        <p:spPr>
          <a:xfrm>
            <a:off x="7863840" y="4645080"/>
            <a:ext cx="359316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保留医保 </a:t>
            </a:r>
            <a:r>
              <a:rPr b="0" lang="en-US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/ </a:t>
            </a: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年龄等有效条件</a:t>
            </a:r>
            <a:endParaRPr b="0" lang="en-US" sz="1010" spc="-1" strike="noStrike">
              <a:latin typeface="Arial"/>
            </a:endParaRPr>
          </a:p>
        </p:txBody>
      </p:sp>
      <p:sp>
        <p:nvSpPr>
          <p:cNvPr id="190" name="CustomShape 47"/>
          <p:cNvSpPr/>
          <p:nvPr/>
        </p:nvSpPr>
        <p:spPr>
          <a:xfrm>
            <a:off x="502920" y="5367600"/>
            <a:ext cx="3611520" cy="795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48"/>
          <p:cNvSpPr/>
          <p:nvPr/>
        </p:nvSpPr>
        <p:spPr>
          <a:xfrm>
            <a:off x="667440" y="5468040"/>
            <a:ext cx="164556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40 / 40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192" name="CustomShape 49"/>
          <p:cNvSpPr/>
          <p:nvPr/>
        </p:nvSpPr>
        <p:spPr>
          <a:xfrm>
            <a:off x="2011680" y="5541120"/>
            <a:ext cx="1883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zh-CN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点击式语音插话链路完整通过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93" name="CustomShape 50"/>
          <p:cNvSpPr/>
          <p:nvPr/>
        </p:nvSpPr>
        <p:spPr>
          <a:xfrm>
            <a:off x="4288680" y="5367600"/>
            <a:ext cx="3611520" cy="795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CustomShape 51"/>
          <p:cNvSpPr/>
          <p:nvPr/>
        </p:nvSpPr>
        <p:spPr>
          <a:xfrm>
            <a:off x="4453200" y="5468040"/>
            <a:ext cx="164556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56.02 ms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195" name="CustomShape 52"/>
          <p:cNvSpPr/>
          <p:nvPr/>
        </p:nvSpPr>
        <p:spPr>
          <a:xfrm>
            <a:off x="5797440" y="5541120"/>
            <a:ext cx="1883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zh-CN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服务端停止确认 </a:t>
            </a:r>
            <a:r>
              <a:rPr b="0" lang="en-US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P95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96" name="CustomShape 53"/>
          <p:cNvSpPr/>
          <p:nvPr/>
        </p:nvSpPr>
        <p:spPr>
          <a:xfrm>
            <a:off x="8074080" y="5367600"/>
            <a:ext cx="3611520" cy="79524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54"/>
          <p:cNvSpPr/>
          <p:nvPr/>
        </p:nvSpPr>
        <p:spPr>
          <a:xfrm>
            <a:off x="8238600" y="5468040"/>
            <a:ext cx="164556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8 / 8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198" name="CustomShape 55"/>
          <p:cNvSpPr/>
          <p:nvPr/>
        </p:nvSpPr>
        <p:spPr>
          <a:xfrm>
            <a:off x="9582840" y="5541120"/>
            <a:ext cx="1883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zh-CN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打断后上下文续问通过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99" name="CustomShape 56"/>
          <p:cNvSpPr/>
          <p:nvPr/>
        </p:nvSpPr>
        <p:spPr>
          <a:xfrm>
            <a:off x="585360" y="6236280"/>
            <a:ext cx="1097244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9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注：</a:t>
            </a:r>
            <a:r>
              <a:rPr b="0" lang="en-US" sz="9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40</a:t>
            </a:r>
            <a:r>
              <a:rPr b="0" lang="zh-CN" sz="9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轮测试为“点击录音开始插话、再次点击结束发送”，不等同于免点击真人语音打断验收。</a:t>
            </a:r>
            <a:endParaRPr b="0" lang="en-US" sz="9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3"/>
          <p:cNvSpPr/>
          <p:nvPr/>
        </p:nvSpPr>
        <p:spPr>
          <a:xfrm>
            <a:off x="502920" y="338400"/>
            <a:ext cx="1014948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RAG</a:t>
            </a: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检索 </a:t>
            </a:r>
            <a:r>
              <a:rPr b="1" lang="en-US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+ </a:t>
            </a: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条件化推理：答案随条件变，依据同步变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03" name="CustomShape 4"/>
          <p:cNvSpPr/>
          <p:nvPr/>
        </p:nvSpPr>
        <p:spPr>
          <a:xfrm>
            <a:off x="521280" y="850320"/>
            <a:ext cx="10240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真实多轮费率咨询：用户条件动态更新，金额结论始终定位到原始资料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04" name="CustomShape 5"/>
          <p:cNvSpPr/>
          <p:nvPr/>
        </p:nvSpPr>
        <p:spPr>
          <a:xfrm>
            <a:off x="10927080" y="411480"/>
            <a:ext cx="7768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04 / 06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5" name="CustomShape 6"/>
          <p:cNvSpPr/>
          <p:nvPr/>
        </p:nvSpPr>
        <p:spPr>
          <a:xfrm>
            <a:off x="502920" y="6483240"/>
            <a:ext cx="11155320" cy="10440"/>
          </a:xfrm>
          <a:prstGeom prst="rect">
            <a:avLst/>
          </a:prstGeom>
          <a:solidFill>
            <a:srgbClr val="dee8f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CustomShape 7"/>
          <p:cNvSpPr/>
          <p:nvPr/>
        </p:nvSpPr>
        <p:spPr>
          <a:xfrm>
            <a:off x="502920" y="6528960"/>
            <a:ext cx="566892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OPEN-JS-01  ·  </a:t>
            </a:r>
            <a:r>
              <a:rPr b="0" lang="zh-CN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初赛项目汇报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207" name="CustomShape 8"/>
          <p:cNvSpPr/>
          <p:nvPr/>
        </p:nvSpPr>
        <p:spPr>
          <a:xfrm>
            <a:off x="10744200" y="6528960"/>
            <a:ext cx="895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2026.10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208" name="CustomShape 9"/>
          <p:cNvSpPr/>
          <p:nvPr/>
        </p:nvSpPr>
        <p:spPr>
          <a:xfrm>
            <a:off x="576000" y="1234440"/>
            <a:ext cx="43887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8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多轮条件动态更新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9" name="CustomShape 10"/>
          <p:cNvSpPr/>
          <p:nvPr/>
        </p:nvSpPr>
        <p:spPr>
          <a:xfrm>
            <a:off x="548640" y="1600200"/>
            <a:ext cx="4050360" cy="905040"/>
          </a:xfrm>
          <a:prstGeom prst="roundRect">
            <a:avLst>
              <a:gd name="adj" fmla="val 12121"/>
            </a:avLst>
          </a:prstGeom>
          <a:solidFill>
            <a:srgbClr val="eaf2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CustomShape 11"/>
          <p:cNvSpPr/>
          <p:nvPr/>
        </p:nvSpPr>
        <p:spPr>
          <a:xfrm>
            <a:off x="777240" y="1728360"/>
            <a:ext cx="3574800" cy="24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初始：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30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岁 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有医保 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年缴</a:t>
            </a:r>
            <a:endParaRPr b="0" lang="en-US" sz="1290" spc="-1" strike="noStrike">
              <a:latin typeface="Arial"/>
            </a:endParaRPr>
          </a:p>
        </p:txBody>
      </p:sp>
      <p:sp>
        <p:nvSpPr>
          <p:cNvPr id="211" name="CustomShape 12"/>
          <p:cNvSpPr/>
          <p:nvPr/>
        </p:nvSpPr>
        <p:spPr>
          <a:xfrm>
            <a:off x="777240" y="2048400"/>
            <a:ext cx="361152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318</a:t>
            </a:r>
            <a:r>
              <a:rPr b="1" lang="zh-CN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元 </a:t>
            </a:r>
            <a:r>
              <a:rPr b="1" lang="en-US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/ </a:t>
            </a:r>
            <a:r>
              <a:rPr b="1" lang="zh-CN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年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12" name="Line 13"/>
          <p:cNvSpPr/>
          <p:nvPr/>
        </p:nvSpPr>
        <p:spPr>
          <a:xfrm>
            <a:off x="2587680" y="2550960"/>
            <a:ext cx="0" cy="201240"/>
          </a:xfrm>
          <a:prstGeom prst="line">
            <a:avLst/>
          </a:prstGeom>
          <a:ln w="16560">
            <a:solidFill>
              <a:srgbClr val="8c9d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CustomShape 14"/>
          <p:cNvSpPr/>
          <p:nvPr/>
        </p:nvSpPr>
        <p:spPr>
          <a:xfrm>
            <a:off x="548640" y="2788920"/>
            <a:ext cx="4050360" cy="905040"/>
          </a:xfrm>
          <a:prstGeom prst="roundRect">
            <a:avLst>
              <a:gd name="adj" fmla="val 12121"/>
            </a:avLst>
          </a:prstGeom>
          <a:solidFill>
            <a:srgbClr val="eff5fe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CustomShape 15"/>
          <p:cNvSpPr/>
          <p:nvPr/>
        </p:nvSpPr>
        <p:spPr>
          <a:xfrm>
            <a:off x="777240" y="2917080"/>
            <a:ext cx="3574800" cy="24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年龄更新：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35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岁 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有医保 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年缴</a:t>
            </a:r>
            <a:endParaRPr b="0" lang="en-US" sz="1290" spc="-1" strike="noStrike">
              <a:latin typeface="Arial"/>
            </a:endParaRPr>
          </a:p>
        </p:txBody>
      </p:sp>
      <p:sp>
        <p:nvSpPr>
          <p:cNvPr id="215" name="CustomShape 16"/>
          <p:cNvSpPr/>
          <p:nvPr/>
        </p:nvSpPr>
        <p:spPr>
          <a:xfrm>
            <a:off x="777240" y="3237120"/>
            <a:ext cx="361152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423</a:t>
            </a:r>
            <a:r>
              <a:rPr b="1" lang="zh-CN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元 </a:t>
            </a:r>
            <a:r>
              <a:rPr b="1" lang="en-US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/ </a:t>
            </a:r>
            <a:r>
              <a:rPr b="1" lang="zh-CN" sz="21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年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16" name="Line 17"/>
          <p:cNvSpPr/>
          <p:nvPr/>
        </p:nvSpPr>
        <p:spPr>
          <a:xfrm>
            <a:off x="2587680" y="3739680"/>
            <a:ext cx="0" cy="201240"/>
          </a:xfrm>
          <a:prstGeom prst="line">
            <a:avLst/>
          </a:prstGeom>
          <a:ln w="16560">
            <a:solidFill>
              <a:srgbClr val="8c9db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CustomShape 18"/>
          <p:cNvSpPr/>
          <p:nvPr/>
        </p:nvSpPr>
        <p:spPr>
          <a:xfrm>
            <a:off x="548640" y="3977640"/>
            <a:ext cx="4050360" cy="905040"/>
          </a:xfrm>
          <a:prstGeom prst="roundRect">
            <a:avLst>
              <a:gd name="adj" fmla="val 12121"/>
            </a:avLst>
          </a:prstGeom>
          <a:solidFill>
            <a:srgbClr val="e7f5f1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CustomShape 19"/>
          <p:cNvSpPr/>
          <p:nvPr/>
        </p:nvSpPr>
        <p:spPr>
          <a:xfrm>
            <a:off x="777240" y="4105800"/>
            <a:ext cx="3574800" cy="24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医保更新：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35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岁 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无医保 </a:t>
            </a:r>
            <a:r>
              <a:rPr b="1" lang="en-US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1" lang="zh-CN" sz="129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年缴</a:t>
            </a:r>
            <a:endParaRPr b="0" lang="en-US" sz="1290" spc="-1" strike="noStrike">
              <a:latin typeface="Arial"/>
            </a:endParaRPr>
          </a:p>
        </p:txBody>
      </p:sp>
      <p:sp>
        <p:nvSpPr>
          <p:cNvPr id="219" name="CustomShape 20"/>
          <p:cNvSpPr/>
          <p:nvPr/>
        </p:nvSpPr>
        <p:spPr>
          <a:xfrm>
            <a:off x="777240" y="4425840"/>
            <a:ext cx="361152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4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971</a:t>
            </a:r>
            <a:r>
              <a:rPr b="1" lang="zh-CN" sz="215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元 </a:t>
            </a:r>
            <a:r>
              <a:rPr b="1" lang="en-US" sz="215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/ </a:t>
            </a:r>
            <a:r>
              <a:rPr b="1" lang="zh-CN" sz="215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年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20" name="CustomShape 21"/>
          <p:cNvSpPr/>
          <p:nvPr/>
        </p:nvSpPr>
        <p:spPr>
          <a:xfrm>
            <a:off x="640080" y="5257800"/>
            <a:ext cx="3904200" cy="282960"/>
          </a:xfrm>
          <a:prstGeom prst="roundRect">
            <a:avLst>
              <a:gd name="adj" fmla="val 25806"/>
            </a:avLst>
          </a:prstGeom>
          <a:solidFill>
            <a:srgbClr val="f4f7fc"/>
          </a:solidFill>
          <a:ln w="11520">
            <a:solidFill>
              <a:srgbClr val="f4f7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CustomShape 22"/>
          <p:cNvSpPr/>
          <p:nvPr/>
        </p:nvSpPr>
        <p:spPr>
          <a:xfrm>
            <a:off x="740520" y="5285160"/>
            <a:ext cx="37029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05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恢复“有医保”后，再次返回 </a:t>
            </a:r>
            <a:r>
              <a:rPr b="1" lang="en-US" sz="105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423</a:t>
            </a:r>
            <a:r>
              <a:rPr b="1" lang="zh-CN" sz="105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元 </a:t>
            </a:r>
            <a:r>
              <a:rPr b="1" lang="en-US" sz="105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/ </a:t>
            </a:r>
            <a:r>
              <a:rPr b="1" lang="zh-CN" sz="105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年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22" name="CustomShape 23"/>
          <p:cNvSpPr/>
          <p:nvPr/>
        </p:nvSpPr>
        <p:spPr>
          <a:xfrm>
            <a:off x="4855320" y="1600200"/>
            <a:ext cx="2953080" cy="4141800"/>
          </a:xfrm>
          <a:prstGeom prst="roundRect">
            <a:avLst>
              <a:gd name="adj" fmla="val 3715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24"/>
          <p:cNvSpPr/>
          <p:nvPr/>
        </p:nvSpPr>
        <p:spPr>
          <a:xfrm>
            <a:off x="5029200" y="1764720"/>
            <a:ext cx="266040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保费与原始表格逐项匹配</a:t>
            </a:r>
            <a:endParaRPr b="0" lang="en-US" sz="1370" spc="-1" strike="noStrike">
              <a:latin typeface="Arial"/>
            </a:endParaRPr>
          </a:p>
        </p:txBody>
      </p:sp>
      <p:sp>
        <p:nvSpPr>
          <p:cNvPr id="224" name="CustomShape 25"/>
          <p:cNvSpPr/>
          <p:nvPr/>
        </p:nvSpPr>
        <p:spPr>
          <a:xfrm>
            <a:off x="5029200" y="2258640"/>
            <a:ext cx="2669760" cy="51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《尊享</a:t>
            </a:r>
            <a:r>
              <a:rPr b="0" lang="en-US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e</a:t>
            </a: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生百万医疗</a:t>
            </a:r>
            <a:r>
              <a:rPr b="0" lang="en-US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2026</a:t>
            </a: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年缴费率</a:t>
            </a:r>
            <a:r>
              <a:rPr b="0" lang="en-US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.pdf</a:t>
            </a: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》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25" name="CustomShape 26"/>
          <p:cNvSpPr/>
          <p:nvPr/>
        </p:nvSpPr>
        <p:spPr>
          <a:xfrm>
            <a:off x="5038200" y="2834640"/>
            <a:ext cx="2559960" cy="282960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520">
            <a:solidFill>
              <a:srgbClr val="eaf2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CustomShape 27"/>
          <p:cNvSpPr/>
          <p:nvPr/>
        </p:nvSpPr>
        <p:spPr>
          <a:xfrm>
            <a:off x="5139000" y="2862000"/>
            <a:ext cx="23587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98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第</a:t>
            </a:r>
            <a:r>
              <a:rPr b="1" lang="en-US" sz="98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1</a:t>
            </a:r>
            <a:r>
              <a:rPr b="1" lang="zh-CN" sz="98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页  </a:t>
            </a:r>
            <a:r>
              <a:rPr b="1" lang="en-US" sz="98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·  </a:t>
            </a:r>
            <a:r>
              <a:rPr b="1" lang="zh-CN" sz="98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年缴费率表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227" name="CustomShape 28"/>
          <p:cNvSpPr/>
          <p:nvPr/>
        </p:nvSpPr>
        <p:spPr>
          <a:xfrm>
            <a:off x="5047560" y="3310200"/>
            <a:ext cx="2568960" cy="347040"/>
          </a:xfrm>
          <a:prstGeom prst="rect">
            <a:avLst/>
          </a:prstGeom>
          <a:solidFill>
            <a:srgbClr val="eaf1f9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CustomShape 29"/>
          <p:cNvSpPr/>
          <p:nvPr/>
        </p:nvSpPr>
        <p:spPr>
          <a:xfrm>
            <a:off x="5102280" y="3392280"/>
            <a:ext cx="82260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2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年龄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9" name="CustomShape 30"/>
          <p:cNvSpPr/>
          <p:nvPr/>
        </p:nvSpPr>
        <p:spPr>
          <a:xfrm>
            <a:off x="5925240" y="3392280"/>
            <a:ext cx="7768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2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有医保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0" name="CustomShape 31"/>
          <p:cNvSpPr/>
          <p:nvPr/>
        </p:nvSpPr>
        <p:spPr>
          <a:xfrm>
            <a:off x="6793920" y="3392280"/>
            <a:ext cx="74952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2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无医保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1" name="CustomShape 32"/>
          <p:cNvSpPr/>
          <p:nvPr/>
        </p:nvSpPr>
        <p:spPr>
          <a:xfrm>
            <a:off x="5047560" y="3694320"/>
            <a:ext cx="2568960" cy="39276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CustomShape 33"/>
          <p:cNvSpPr/>
          <p:nvPr/>
        </p:nvSpPr>
        <p:spPr>
          <a:xfrm>
            <a:off x="5102280" y="3803760"/>
            <a:ext cx="7858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26—30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33" name="CustomShape 34"/>
          <p:cNvSpPr/>
          <p:nvPr/>
        </p:nvSpPr>
        <p:spPr>
          <a:xfrm>
            <a:off x="5998320" y="3803760"/>
            <a:ext cx="50256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318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34" name="CustomShape 35"/>
          <p:cNvSpPr/>
          <p:nvPr/>
        </p:nvSpPr>
        <p:spPr>
          <a:xfrm>
            <a:off x="6931080" y="3803760"/>
            <a:ext cx="50256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679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35" name="CustomShape 36"/>
          <p:cNvSpPr/>
          <p:nvPr/>
        </p:nvSpPr>
        <p:spPr>
          <a:xfrm>
            <a:off x="5047560" y="4096440"/>
            <a:ext cx="2568960" cy="465840"/>
          </a:xfrm>
          <a:prstGeom prst="rect">
            <a:avLst/>
          </a:prstGeom>
          <a:solidFill>
            <a:srgbClr val="e5f2ea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CustomShape 37"/>
          <p:cNvSpPr/>
          <p:nvPr/>
        </p:nvSpPr>
        <p:spPr>
          <a:xfrm>
            <a:off x="5102280" y="4251960"/>
            <a:ext cx="80424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2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31—35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7" name="CustomShape 38"/>
          <p:cNvSpPr/>
          <p:nvPr/>
        </p:nvSpPr>
        <p:spPr>
          <a:xfrm>
            <a:off x="5998320" y="4251960"/>
            <a:ext cx="52992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3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423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8" name="CustomShape 39"/>
          <p:cNvSpPr/>
          <p:nvPr/>
        </p:nvSpPr>
        <p:spPr>
          <a:xfrm>
            <a:off x="6931080" y="4251960"/>
            <a:ext cx="52992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3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971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9" name="CustomShape 40"/>
          <p:cNvSpPr/>
          <p:nvPr/>
        </p:nvSpPr>
        <p:spPr>
          <a:xfrm>
            <a:off x="5065920" y="4782240"/>
            <a:ext cx="23770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15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证据与回答匹配：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40" name="CustomShape 41"/>
          <p:cNvSpPr/>
          <p:nvPr/>
        </p:nvSpPr>
        <p:spPr>
          <a:xfrm>
            <a:off x="5065920" y="5120640"/>
            <a:ext cx="24775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条件 </a:t>
            </a:r>
            <a:r>
              <a:rPr b="0" lang="en-US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</a:t>
            </a: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费率值 </a:t>
            </a:r>
            <a:r>
              <a:rPr b="0" lang="en-US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</a:t>
            </a: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原始文件</a:t>
            </a:r>
            <a:r>
              <a:rPr b="0" lang="en-US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/</a:t>
            </a:r>
            <a:r>
              <a:rPr b="0" lang="zh-CN" sz="101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页码</a:t>
            </a:r>
            <a:endParaRPr b="0" lang="en-US" sz="1010" spc="-1" strike="noStrike">
              <a:latin typeface="Arial"/>
            </a:endParaRPr>
          </a:p>
        </p:txBody>
      </p:sp>
      <p:sp>
        <p:nvSpPr>
          <p:cNvPr id="241" name="CustomShape 42"/>
          <p:cNvSpPr/>
          <p:nvPr/>
        </p:nvSpPr>
        <p:spPr>
          <a:xfrm>
            <a:off x="8074080" y="1600200"/>
            <a:ext cx="3620520" cy="4141800"/>
          </a:xfrm>
          <a:prstGeom prst="roundRect">
            <a:avLst>
              <a:gd name="adj" fmla="val 3030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CustomShape 43"/>
          <p:cNvSpPr/>
          <p:nvPr/>
        </p:nvSpPr>
        <p:spPr>
          <a:xfrm>
            <a:off x="8238600" y="1755720"/>
            <a:ext cx="330048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3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真实界面：来源高亮与定位</a:t>
            </a:r>
            <a:endParaRPr b="0" lang="en-US" sz="1330" spc="-1" strike="noStrike">
              <a:latin typeface="Arial"/>
            </a:endParaRPr>
          </a:p>
        </p:txBody>
      </p:sp>
      <p:pic>
        <p:nvPicPr>
          <p:cNvPr id="243" name="Image 0" descr="/mnt/data/ppt_assets/evidence.png"/>
          <p:cNvPicPr/>
          <p:nvPr/>
        </p:nvPicPr>
        <p:blipFill>
          <a:blip r:embed="rId1"/>
          <a:stretch/>
        </p:blipFill>
        <p:spPr>
          <a:xfrm>
            <a:off x="8439840" y="2112120"/>
            <a:ext cx="2624040" cy="3474360"/>
          </a:xfrm>
          <a:prstGeom prst="rect">
            <a:avLst/>
          </a:prstGeom>
          <a:ln>
            <a:noFill/>
          </a:ln>
        </p:spPr>
      </p:pic>
      <p:sp>
        <p:nvSpPr>
          <p:cNvPr id="244" name="CustomShape 44"/>
          <p:cNvSpPr/>
          <p:nvPr/>
        </p:nvSpPr>
        <p:spPr>
          <a:xfrm>
            <a:off x="8476560" y="5340240"/>
            <a:ext cx="2495880" cy="282960"/>
          </a:xfrm>
          <a:prstGeom prst="roundRect">
            <a:avLst>
              <a:gd name="adj" fmla="val 25806"/>
            </a:avLst>
          </a:prstGeom>
          <a:solidFill>
            <a:srgbClr val="e7f5f1"/>
          </a:solidFill>
          <a:ln w="11520">
            <a:solidFill>
              <a:srgbClr val="e7f5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CustomShape 45"/>
          <p:cNvSpPr/>
          <p:nvPr/>
        </p:nvSpPr>
        <p:spPr>
          <a:xfrm>
            <a:off x="8577000" y="5367600"/>
            <a:ext cx="22946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96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依据检索截图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246" name="CustomShape 46"/>
          <p:cNvSpPr/>
          <p:nvPr/>
        </p:nvSpPr>
        <p:spPr>
          <a:xfrm>
            <a:off x="567000" y="5870520"/>
            <a:ext cx="11118600" cy="347040"/>
          </a:xfrm>
          <a:prstGeom prst="roundRect">
            <a:avLst>
              <a:gd name="adj" fmla="val 31579"/>
            </a:avLst>
          </a:prstGeom>
          <a:solidFill>
            <a:srgbClr val="f4f7fc"/>
          </a:solidFill>
          <a:ln w="11520">
            <a:solidFill>
              <a:srgbClr val="f4f7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CustomShape 47"/>
          <p:cNvSpPr/>
          <p:nvPr/>
        </p:nvSpPr>
        <p:spPr>
          <a:xfrm>
            <a:off x="841320" y="5916240"/>
            <a:ext cx="104238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111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安全决策：  </a:t>
            </a:r>
            <a:r>
              <a:rPr b="1" lang="en-US" sz="111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Answer</a:t>
            </a:r>
            <a:r>
              <a:rPr b="1" lang="zh-CN" sz="111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（证据充分）    </a:t>
            </a:r>
            <a:r>
              <a:rPr b="1" lang="en-US" sz="111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/    Clarify</a:t>
            </a:r>
            <a:r>
              <a:rPr b="1" lang="zh-CN" sz="111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（条件缺失）    </a:t>
            </a:r>
            <a:r>
              <a:rPr b="1" lang="en-US" sz="111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/    Handoff</a:t>
            </a:r>
            <a:r>
              <a:rPr b="1" lang="zh-CN" sz="111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（证据不足，待人工处理）</a:t>
            </a:r>
            <a:endParaRPr b="0" lang="en-US" sz="111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Custom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CustomShape 3"/>
          <p:cNvSpPr/>
          <p:nvPr/>
        </p:nvSpPr>
        <p:spPr>
          <a:xfrm>
            <a:off x="502920" y="338400"/>
            <a:ext cx="1014948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96%</a:t>
            </a: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人工准确率：核心指标达到赛事验收门槛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51" name="CustomShape 4"/>
          <p:cNvSpPr/>
          <p:nvPr/>
        </p:nvSpPr>
        <p:spPr>
          <a:xfrm>
            <a:off x="521280" y="850320"/>
            <a:ext cx="10240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200</a:t>
            </a: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题人工逐题审核 </a:t>
            </a:r>
            <a:r>
              <a:rPr b="0" lang="en-US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20</a:t>
            </a: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轮公网语音首响 </a:t>
            </a:r>
            <a:r>
              <a:rPr b="0" lang="en-US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· </a:t>
            </a: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插话与安全兜底专项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10927080" y="411480"/>
            <a:ext cx="7768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05 / 06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502920" y="6483240"/>
            <a:ext cx="11155320" cy="10440"/>
          </a:xfrm>
          <a:prstGeom prst="rect">
            <a:avLst/>
          </a:prstGeom>
          <a:solidFill>
            <a:srgbClr val="dee8f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CustomShape 7"/>
          <p:cNvSpPr/>
          <p:nvPr/>
        </p:nvSpPr>
        <p:spPr>
          <a:xfrm>
            <a:off x="502920" y="6528960"/>
            <a:ext cx="566892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OPEN-JS-01  ·  </a:t>
            </a:r>
            <a:r>
              <a:rPr b="0" lang="zh-CN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初赛项目汇报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10744200" y="6528960"/>
            <a:ext cx="895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2026.10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02920" y="1289160"/>
            <a:ext cx="3986280" cy="3008160"/>
          </a:xfrm>
          <a:prstGeom prst="roundRect">
            <a:avLst>
              <a:gd name="adj" fmla="val 3647"/>
            </a:avLst>
          </a:prstGeom>
          <a:solidFill>
            <a:srgbClr val="eaf2fc"/>
          </a:solidFill>
          <a:ln w="11520">
            <a:solidFill>
              <a:srgbClr val="d6e7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10"/>
          <p:cNvSpPr/>
          <p:nvPr/>
        </p:nvSpPr>
        <p:spPr>
          <a:xfrm>
            <a:off x="749880" y="1527120"/>
            <a:ext cx="3474360" cy="35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200</a:t>
            </a:r>
            <a:r>
              <a:rPr b="1" lang="zh-CN" sz="1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题复杂咨询人工准确率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731520" y="1901880"/>
            <a:ext cx="334620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9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3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96%</a:t>
            </a:r>
            <a:endParaRPr b="0" lang="en-US" sz="5300" spc="-1" strike="noStrike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777240" y="2797920"/>
            <a:ext cx="329148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192 / 200</a:t>
            </a:r>
            <a:r>
              <a:rPr b="1" lang="zh-CN" sz="1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题通过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777240" y="3310200"/>
            <a:ext cx="3382920" cy="155160"/>
          </a:xfrm>
          <a:prstGeom prst="rect">
            <a:avLst/>
          </a:prstGeom>
          <a:solidFill>
            <a:srgbClr val="d9e3f1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CustomShape 14"/>
          <p:cNvSpPr/>
          <p:nvPr/>
        </p:nvSpPr>
        <p:spPr>
          <a:xfrm>
            <a:off x="777240" y="3310200"/>
            <a:ext cx="3247560" cy="155160"/>
          </a:xfrm>
          <a:prstGeom prst="rect">
            <a:avLst/>
          </a:prstGeom>
          <a:solidFill>
            <a:srgbClr val="19806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CustomShape 15"/>
          <p:cNvSpPr/>
          <p:nvPr/>
        </p:nvSpPr>
        <p:spPr>
          <a:xfrm>
            <a:off x="795600" y="3648600"/>
            <a:ext cx="345600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1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验收门槛 ≥</a:t>
            </a:r>
            <a:r>
              <a:rPr b="0" lang="en-US" sz="11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90%  ·  </a:t>
            </a:r>
            <a:r>
              <a:rPr b="0" lang="zh-CN" sz="11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高出</a:t>
            </a:r>
            <a:r>
              <a:rPr b="0" lang="en-US" sz="11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6</a:t>
            </a:r>
            <a:r>
              <a:rPr b="0" lang="zh-CN" sz="11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个百分点</a:t>
            </a:r>
            <a:endParaRPr b="0" lang="en-US" sz="1140" spc="-1" strike="noStrike">
              <a:latin typeface="Arial"/>
            </a:endParaRPr>
          </a:p>
        </p:txBody>
      </p:sp>
      <p:sp>
        <p:nvSpPr>
          <p:cNvPr id="263" name="CustomShape 16"/>
          <p:cNvSpPr/>
          <p:nvPr/>
        </p:nvSpPr>
        <p:spPr>
          <a:xfrm>
            <a:off x="4681800" y="1289160"/>
            <a:ext cx="3273120" cy="3008160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CustomShape 17"/>
          <p:cNvSpPr/>
          <p:nvPr/>
        </p:nvSpPr>
        <p:spPr>
          <a:xfrm>
            <a:off x="4919400" y="1545480"/>
            <a:ext cx="274284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46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端到端语音首响 </a:t>
            </a:r>
            <a:r>
              <a:rPr b="1" lang="en-US" sz="146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P95</a:t>
            </a:r>
            <a:endParaRPr b="0" lang="en-US" sz="1460" spc="-1" strike="noStrike">
              <a:latin typeface="Arial"/>
            </a:endParaRPr>
          </a:p>
        </p:txBody>
      </p:sp>
      <p:sp>
        <p:nvSpPr>
          <p:cNvPr id="265" name="CustomShape 18"/>
          <p:cNvSpPr/>
          <p:nvPr/>
        </p:nvSpPr>
        <p:spPr>
          <a:xfrm>
            <a:off x="4892040" y="2057400"/>
            <a:ext cx="2834280" cy="69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2.283s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266" name="CustomShape 19"/>
          <p:cNvSpPr/>
          <p:nvPr/>
        </p:nvSpPr>
        <p:spPr>
          <a:xfrm>
            <a:off x="4937760" y="2917080"/>
            <a:ext cx="2441160" cy="282960"/>
          </a:xfrm>
          <a:prstGeom prst="roundRect">
            <a:avLst>
              <a:gd name="adj" fmla="val 25806"/>
            </a:avLst>
          </a:prstGeom>
          <a:solidFill>
            <a:srgbClr val="e7f5f1"/>
          </a:solidFill>
          <a:ln w="11520">
            <a:solidFill>
              <a:srgbClr val="e7f5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CustomShape 20"/>
          <p:cNvSpPr/>
          <p:nvPr/>
        </p:nvSpPr>
        <p:spPr>
          <a:xfrm>
            <a:off x="5038200" y="2944440"/>
            <a:ext cx="22399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20 / 20</a:t>
            </a:r>
            <a:r>
              <a:rPr b="1" lang="zh-CN" sz="11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次 ≤</a:t>
            </a:r>
            <a:r>
              <a:rPr b="1" lang="en-US" sz="11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3</a:t>
            </a:r>
            <a:r>
              <a:rPr b="1" lang="zh-CN" sz="11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秒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8" name="CustomShape 21"/>
          <p:cNvSpPr/>
          <p:nvPr/>
        </p:nvSpPr>
        <p:spPr>
          <a:xfrm>
            <a:off x="4919400" y="3410640"/>
            <a:ext cx="2815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Chromium · </a:t>
            </a:r>
            <a:r>
              <a:rPr b="0" lang="zh-CN" sz="11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公网隧道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9" name="CustomShape 22"/>
          <p:cNvSpPr/>
          <p:nvPr/>
        </p:nvSpPr>
        <p:spPr>
          <a:xfrm>
            <a:off x="4919400" y="3730680"/>
            <a:ext cx="285264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录完发送 → </a:t>
            </a: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ASR → </a:t>
            </a: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回答 → </a:t>
            </a: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TTS</a:t>
            </a: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播放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0" name="CustomShape 23"/>
          <p:cNvSpPr/>
          <p:nvPr/>
        </p:nvSpPr>
        <p:spPr>
          <a:xfrm>
            <a:off x="8147160" y="1289160"/>
            <a:ext cx="3529080" cy="90504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CustomShape 24"/>
          <p:cNvSpPr/>
          <p:nvPr/>
        </p:nvSpPr>
        <p:spPr>
          <a:xfrm>
            <a:off x="8339400" y="1426320"/>
            <a:ext cx="16088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3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40 / 40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9829800" y="1463040"/>
            <a:ext cx="1654560" cy="49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zh-CN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点击式语音插话完整通过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8147160" y="2309040"/>
            <a:ext cx="3529080" cy="90504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27"/>
          <p:cNvSpPr/>
          <p:nvPr/>
        </p:nvSpPr>
        <p:spPr>
          <a:xfrm>
            <a:off x="8339400" y="2446200"/>
            <a:ext cx="16088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3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13 / 13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5" name="CustomShape 28"/>
          <p:cNvSpPr/>
          <p:nvPr/>
        </p:nvSpPr>
        <p:spPr>
          <a:xfrm>
            <a:off x="9829800" y="2482560"/>
            <a:ext cx="1654560" cy="49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zh-CN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预设安全兜底通过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276" name="CustomShape 29"/>
          <p:cNvSpPr/>
          <p:nvPr/>
        </p:nvSpPr>
        <p:spPr>
          <a:xfrm>
            <a:off x="8147160" y="3328560"/>
            <a:ext cx="3529080" cy="90504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CustomShape 30"/>
          <p:cNvSpPr/>
          <p:nvPr/>
        </p:nvSpPr>
        <p:spPr>
          <a:xfrm>
            <a:off x="8339400" y="3465720"/>
            <a:ext cx="16088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3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4.777s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8" name="CustomShape 31"/>
          <p:cNvSpPr/>
          <p:nvPr/>
        </p:nvSpPr>
        <p:spPr>
          <a:xfrm>
            <a:off x="9829800" y="3502080"/>
            <a:ext cx="1654560" cy="49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zh-CN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慢题完整回答</a:t>
            </a:r>
            <a:r>
              <a:rPr b="0" lang="en-US" sz="104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P95*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279" name="CustomShape 32"/>
          <p:cNvSpPr/>
          <p:nvPr/>
        </p:nvSpPr>
        <p:spPr>
          <a:xfrm>
            <a:off x="502920" y="4498920"/>
            <a:ext cx="11173680" cy="1517400"/>
          </a:xfrm>
          <a:prstGeom prst="roundRect">
            <a:avLst>
              <a:gd name="adj" fmla="val 7229"/>
            </a:avLst>
          </a:prstGeom>
          <a:solidFill>
            <a:srgbClr val="f4f7fc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CustomShape 33"/>
          <p:cNvSpPr/>
          <p:nvPr/>
        </p:nvSpPr>
        <p:spPr>
          <a:xfrm>
            <a:off x="777240" y="4626720"/>
            <a:ext cx="480024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43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工程优化：端到端语音首响</a:t>
            </a:r>
            <a:r>
              <a:rPr b="1" lang="en-US" sz="143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P95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81" name="CustomShape 34"/>
          <p:cNvSpPr/>
          <p:nvPr/>
        </p:nvSpPr>
        <p:spPr>
          <a:xfrm>
            <a:off x="795600" y="5047560"/>
            <a:ext cx="923040" cy="20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优化前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2" name="CustomShape 35"/>
          <p:cNvSpPr/>
          <p:nvPr/>
        </p:nvSpPr>
        <p:spPr>
          <a:xfrm>
            <a:off x="1737360" y="5083920"/>
            <a:ext cx="5577480" cy="164160"/>
          </a:xfrm>
          <a:prstGeom prst="rect">
            <a:avLst/>
          </a:prstGeom>
          <a:solidFill>
            <a:srgbClr val="e1e9f3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CustomShape 36"/>
          <p:cNvSpPr/>
          <p:nvPr/>
        </p:nvSpPr>
        <p:spPr>
          <a:xfrm>
            <a:off x="1737360" y="5083920"/>
            <a:ext cx="5085360" cy="164160"/>
          </a:xfrm>
          <a:prstGeom prst="rect">
            <a:avLst/>
          </a:prstGeom>
          <a:solidFill>
            <a:srgbClr val="a0b3c9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CustomShape 37"/>
          <p:cNvSpPr/>
          <p:nvPr/>
        </p:nvSpPr>
        <p:spPr>
          <a:xfrm>
            <a:off x="7516440" y="4992480"/>
            <a:ext cx="9507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3.647s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5" name="CustomShape 38"/>
          <p:cNvSpPr/>
          <p:nvPr/>
        </p:nvSpPr>
        <p:spPr>
          <a:xfrm>
            <a:off x="795600" y="5477400"/>
            <a:ext cx="923040" cy="20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优化后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6" name="CustomShape 39"/>
          <p:cNvSpPr/>
          <p:nvPr/>
        </p:nvSpPr>
        <p:spPr>
          <a:xfrm>
            <a:off x="1737360" y="5504760"/>
            <a:ext cx="5577480" cy="164160"/>
          </a:xfrm>
          <a:prstGeom prst="rect">
            <a:avLst/>
          </a:prstGeom>
          <a:solidFill>
            <a:srgbClr val="e1e9f3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CustomShape 40"/>
          <p:cNvSpPr/>
          <p:nvPr/>
        </p:nvSpPr>
        <p:spPr>
          <a:xfrm>
            <a:off x="1737360" y="5504760"/>
            <a:ext cx="3183120" cy="16416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CustomShape 41"/>
          <p:cNvSpPr/>
          <p:nvPr/>
        </p:nvSpPr>
        <p:spPr>
          <a:xfrm>
            <a:off x="5166360" y="5403960"/>
            <a:ext cx="9507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2.283s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9" name="CustomShape 42"/>
          <p:cNvSpPr/>
          <p:nvPr/>
        </p:nvSpPr>
        <p:spPr>
          <a:xfrm>
            <a:off x="8759880" y="4873680"/>
            <a:ext cx="2450160" cy="703800"/>
          </a:xfrm>
          <a:prstGeom prst="roundRect">
            <a:avLst>
              <a:gd name="adj" fmla="val 15584"/>
            </a:avLst>
          </a:prstGeom>
          <a:solidFill>
            <a:srgbClr val="e7f5f1"/>
          </a:solidFill>
          <a:ln w="11520">
            <a:solidFill>
              <a:srgbClr val="e7f5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43"/>
          <p:cNvSpPr/>
          <p:nvPr/>
        </p:nvSpPr>
        <p:spPr>
          <a:xfrm>
            <a:off x="8915400" y="5056560"/>
            <a:ext cx="215748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P95</a:t>
            </a:r>
            <a:r>
              <a:rPr b="1" lang="zh-CN" sz="18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降低</a:t>
            </a:r>
            <a:r>
              <a:rPr b="1" lang="en-US" sz="1800" spc="-1" strike="noStrike">
                <a:solidFill>
                  <a:srgbClr val="19806d"/>
                </a:solidFill>
                <a:latin typeface="Microsoft YaHei"/>
                <a:ea typeface="Microsoft YaHei"/>
              </a:rPr>
              <a:t>37.4%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1" name="CustomShape 44"/>
          <p:cNvSpPr/>
          <p:nvPr/>
        </p:nvSpPr>
        <p:spPr>
          <a:xfrm>
            <a:off x="567000" y="6172200"/>
            <a:ext cx="1104552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*</a:t>
            </a:r>
            <a:r>
              <a:rPr b="0" lang="zh-CN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慢题</a:t>
            </a:r>
            <a:r>
              <a:rPr b="0" lang="en-US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4.777s</a:t>
            </a:r>
            <a:r>
              <a:rPr b="0" lang="zh-CN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为本机文本链路；语音首响</a:t>
            </a:r>
            <a:r>
              <a:rPr b="0" lang="en-US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</a:t>
            </a:r>
            <a:r>
              <a:rPr b="0" lang="zh-CN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轮为录完发送模式；插话</a:t>
            </a:r>
            <a:r>
              <a:rPr b="0" lang="en-US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40</a:t>
            </a:r>
            <a:r>
              <a:rPr b="0" lang="zh-CN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轮为点击录音式。准确率按提供的</a:t>
            </a:r>
            <a:r>
              <a:rPr b="0" lang="en-US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200</a:t>
            </a:r>
            <a:r>
              <a:rPr b="0" lang="zh-CN" sz="86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题人工审核表统计。</a:t>
            </a:r>
            <a:endParaRPr b="0" lang="en-US" sz="86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CustomShape 2"/>
          <p:cNvSpPr/>
          <p:nvPr/>
        </p:nvSpPr>
        <p:spPr>
          <a:xfrm>
            <a:off x="0" y="0"/>
            <a:ext cx="100080" cy="6857640"/>
          </a:xfrm>
          <a:prstGeom prst="rect">
            <a:avLst/>
          </a:prstGeom>
          <a:solidFill>
            <a:srgbClr val="3576bd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CustomShape 3"/>
          <p:cNvSpPr/>
          <p:nvPr/>
        </p:nvSpPr>
        <p:spPr>
          <a:xfrm>
            <a:off x="502920" y="338400"/>
            <a:ext cx="1014948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低成本知识维护 </a:t>
            </a:r>
            <a:r>
              <a:rPr b="1" lang="en-US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+ </a:t>
            </a:r>
            <a:r>
              <a:rPr b="1" lang="zh-CN" sz="2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可验证创新闭环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95" name="CustomShape 4"/>
          <p:cNvSpPr/>
          <p:nvPr/>
        </p:nvSpPr>
        <p:spPr>
          <a:xfrm>
            <a:off x="521280" y="850320"/>
            <a:ext cx="10240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更新资料只需重建检索索引，无需重新训练大模型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96" name="CustomShape 5"/>
          <p:cNvSpPr/>
          <p:nvPr/>
        </p:nvSpPr>
        <p:spPr>
          <a:xfrm>
            <a:off x="10927080" y="411480"/>
            <a:ext cx="7768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06 / 06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97" name="CustomShape 6"/>
          <p:cNvSpPr/>
          <p:nvPr/>
        </p:nvSpPr>
        <p:spPr>
          <a:xfrm>
            <a:off x="502920" y="6483240"/>
            <a:ext cx="11155320" cy="10440"/>
          </a:xfrm>
          <a:prstGeom prst="rect">
            <a:avLst/>
          </a:prstGeom>
          <a:solidFill>
            <a:srgbClr val="dee8f2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7"/>
          <p:cNvSpPr/>
          <p:nvPr/>
        </p:nvSpPr>
        <p:spPr>
          <a:xfrm>
            <a:off x="502920" y="6528960"/>
            <a:ext cx="566892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OPEN-JS-01  ·  </a:t>
            </a:r>
            <a:r>
              <a:rPr b="0" lang="zh-CN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初赛项目汇报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299" name="CustomShape 8"/>
          <p:cNvSpPr/>
          <p:nvPr/>
        </p:nvSpPr>
        <p:spPr>
          <a:xfrm>
            <a:off x="10744200" y="6528960"/>
            <a:ext cx="895680" cy="17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2026.10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300" name="CustomShape 9"/>
          <p:cNvSpPr/>
          <p:nvPr/>
        </p:nvSpPr>
        <p:spPr>
          <a:xfrm>
            <a:off x="502920" y="1234440"/>
            <a:ext cx="11173680" cy="1161000"/>
          </a:xfrm>
          <a:prstGeom prst="roundRect">
            <a:avLst>
              <a:gd name="adj" fmla="val 9449"/>
            </a:avLst>
          </a:prstGeom>
          <a:solidFill>
            <a:srgbClr val="eaf2fc"/>
          </a:solidFill>
          <a:ln w="11520">
            <a:solidFill>
              <a:srgbClr val="d8e7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CustomShape 10"/>
          <p:cNvSpPr/>
          <p:nvPr/>
        </p:nvSpPr>
        <p:spPr>
          <a:xfrm>
            <a:off x="713160" y="1389960"/>
            <a:ext cx="56505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知识库维护成本：隔离模拟更新实验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02" name="CustomShape 11"/>
          <p:cNvSpPr/>
          <p:nvPr/>
        </p:nvSpPr>
        <p:spPr>
          <a:xfrm>
            <a:off x="5504760" y="1344240"/>
            <a:ext cx="1828440" cy="374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6.388</a:t>
            </a:r>
            <a:r>
              <a:rPr b="1" lang="zh-CN" sz="21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秒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303" name="CustomShape 12"/>
          <p:cNvSpPr/>
          <p:nvPr/>
        </p:nvSpPr>
        <p:spPr>
          <a:xfrm>
            <a:off x="5504760" y="1801440"/>
            <a:ext cx="182844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zh-CN" sz="10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全量索引重建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304" name="CustomShape 13"/>
          <p:cNvSpPr/>
          <p:nvPr/>
        </p:nvSpPr>
        <p:spPr>
          <a:xfrm>
            <a:off x="7498080" y="1344240"/>
            <a:ext cx="1828440" cy="374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1</a:t>
            </a:r>
            <a:r>
              <a:rPr b="1" lang="zh-CN" sz="21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份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305" name="CustomShape 14"/>
          <p:cNvSpPr/>
          <p:nvPr/>
        </p:nvSpPr>
        <p:spPr>
          <a:xfrm>
            <a:off x="7498080" y="1801440"/>
            <a:ext cx="182844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zh-CN" sz="10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本次模拟更新资料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306" name="CustomShape 15"/>
          <p:cNvSpPr/>
          <p:nvPr/>
        </p:nvSpPr>
        <p:spPr>
          <a:xfrm>
            <a:off x="9491400" y="1344240"/>
            <a:ext cx="1828440" cy="374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0.19</a:t>
            </a:r>
            <a:r>
              <a:rPr b="1" lang="zh-CN" sz="170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分钟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07" name="CustomShape 16"/>
          <p:cNvSpPr/>
          <p:nvPr/>
        </p:nvSpPr>
        <p:spPr>
          <a:xfrm>
            <a:off x="9491400" y="1801440"/>
            <a:ext cx="182844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zh-CN" sz="102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模拟更新操作窗口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308" name="CustomShape 17"/>
          <p:cNvSpPr/>
          <p:nvPr/>
        </p:nvSpPr>
        <p:spPr>
          <a:xfrm>
            <a:off x="749880" y="2048400"/>
            <a:ext cx="10615680" cy="20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文件替换 → 索引重建 → 服务重启 → 问答回归；本次隔离演练未修改正式保险资料。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09" name="CustomShape 18"/>
          <p:cNvSpPr/>
          <p:nvPr/>
        </p:nvSpPr>
        <p:spPr>
          <a:xfrm>
            <a:off x="585360" y="2706480"/>
            <a:ext cx="102409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创新性：四项能力共享上下文、证据与任务状态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0" name="CustomShape 19"/>
          <p:cNvSpPr/>
          <p:nvPr/>
        </p:nvSpPr>
        <p:spPr>
          <a:xfrm>
            <a:off x="521280" y="3127320"/>
            <a:ext cx="3547440" cy="26697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CustomShape 20"/>
          <p:cNvSpPr/>
          <p:nvPr/>
        </p:nvSpPr>
        <p:spPr>
          <a:xfrm>
            <a:off x="704160" y="3291840"/>
            <a:ext cx="3200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01  </a:t>
            </a: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全双工任务级打断</a:t>
            </a:r>
            <a:endParaRPr b="0" lang="en-US" sz="1370" spc="-1" strike="noStrike">
              <a:latin typeface="Arial"/>
            </a:endParaRPr>
          </a:p>
        </p:txBody>
      </p:sp>
      <p:pic>
        <p:nvPicPr>
          <p:cNvPr id="312" name="Image 0" descr="/mnt/data/ppt_assets/voice.png"/>
          <p:cNvPicPr/>
          <p:nvPr/>
        </p:nvPicPr>
        <p:blipFill>
          <a:blip r:embed="rId1"/>
          <a:stretch/>
        </p:blipFill>
        <p:spPr>
          <a:xfrm>
            <a:off x="676800" y="3749040"/>
            <a:ext cx="3236760" cy="1389600"/>
          </a:xfrm>
          <a:prstGeom prst="rect">
            <a:avLst/>
          </a:prstGeom>
          <a:ln>
            <a:noFill/>
          </a:ln>
        </p:spPr>
      </p:pic>
      <p:sp>
        <p:nvSpPr>
          <p:cNvPr id="313" name="CustomShape 21"/>
          <p:cNvSpPr/>
          <p:nvPr/>
        </p:nvSpPr>
        <p:spPr>
          <a:xfrm>
            <a:off x="713160" y="5248800"/>
            <a:ext cx="31543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停止生成与</a:t>
            </a:r>
            <a:r>
              <a:rPr b="0" lang="en-US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TTS · </a:t>
            </a: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识别新问题 </a:t>
            </a:r>
            <a:r>
              <a:rPr b="0" lang="en-US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继承有效条件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4" name="CustomShape 22"/>
          <p:cNvSpPr/>
          <p:nvPr/>
        </p:nvSpPr>
        <p:spPr>
          <a:xfrm>
            <a:off x="2633400" y="5541120"/>
            <a:ext cx="1261440" cy="282960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520">
            <a:solidFill>
              <a:srgbClr val="eaf2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CustomShape 23"/>
          <p:cNvSpPr/>
          <p:nvPr/>
        </p:nvSpPr>
        <p:spPr>
          <a:xfrm>
            <a:off x="2734200" y="5568840"/>
            <a:ext cx="10602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交互创新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16" name="CustomShape 24"/>
          <p:cNvSpPr/>
          <p:nvPr/>
        </p:nvSpPr>
        <p:spPr>
          <a:xfrm>
            <a:off x="4334400" y="3127320"/>
            <a:ext cx="3547440" cy="26697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CustomShape 25"/>
          <p:cNvSpPr/>
          <p:nvPr/>
        </p:nvSpPr>
        <p:spPr>
          <a:xfrm>
            <a:off x="4517280" y="3291840"/>
            <a:ext cx="3200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02  </a:t>
            </a: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快慢思考条件化</a:t>
            </a:r>
            <a:r>
              <a:rPr b="1" lang="en-US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RAG</a:t>
            </a:r>
            <a:endParaRPr b="0" lang="en-US" sz="1370" spc="-1" strike="noStrike">
              <a:latin typeface="Arial"/>
            </a:endParaRPr>
          </a:p>
        </p:txBody>
      </p:sp>
      <p:pic>
        <p:nvPicPr>
          <p:cNvPr id="318" name="Image 1" descr="/mnt/data/ppt_assets/answer.png"/>
          <p:cNvPicPr/>
          <p:nvPr/>
        </p:nvPicPr>
        <p:blipFill>
          <a:blip r:embed="rId2"/>
          <a:stretch/>
        </p:blipFill>
        <p:spPr>
          <a:xfrm>
            <a:off x="4489560" y="3749040"/>
            <a:ext cx="3236760" cy="1389600"/>
          </a:xfrm>
          <a:prstGeom prst="rect">
            <a:avLst/>
          </a:prstGeom>
          <a:ln>
            <a:noFill/>
          </a:ln>
        </p:spPr>
      </p:pic>
      <p:sp>
        <p:nvSpPr>
          <p:cNvPr id="319" name="CustomShape 26"/>
          <p:cNvSpPr/>
          <p:nvPr/>
        </p:nvSpPr>
        <p:spPr>
          <a:xfrm>
            <a:off x="4526280" y="5248800"/>
            <a:ext cx="31543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低延迟路由 </a:t>
            </a:r>
            <a:r>
              <a:rPr b="0" lang="en-US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条件更新 </a:t>
            </a:r>
            <a:r>
              <a:rPr b="0" lang="en-US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原始条款精准追溯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0" name="CustomShape 27"/>
          <p:cNvSpPr/>
          <p:nvPr/>
        </p:nvSpPr>
        <p:spPr>
          <a:xfrm>
            <a:off x="6446520" y="5541120"/>
            <a:ext cx="1261440" cy="282960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520">
            <a:solidFill>
              <a:srgbClr val="eaf2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CustomShape 28"/>
          <p:cNvSpPr/>
          <p:nvPr/>
        </p:nvSpPr>
        <p:spPr>
          <a:xfrm>
            <a:off x="6546960" y="5568840"/>
            <a:ext cx="10602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3576bd"/>
                </a:solidFill>
                <a:latin typeface="Microsoft YaHei"/>
                <a:ea typeface="Microsoft YaHei"/>
              </a:rPr>
              <a:t>架构创新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22" name="CustomShape 29"/>
          <p:cNvSpPr/>
          <p:nvPr/>
        </p:nvSpPr>
        <p:spPr>
          <a:xfrm>
            <a:off x="8138160" y="3127320"/>
            <a:ext cx="3547440" cy="26697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1520">
            <a:solidFill>
              <a:srgbClr val="dee8f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ustomShape 30"/>
          <p:cNvSpPr/>
          <p:nvPr/>
        </p:nvSpPr>
        <p:spPr>
          <a:xfrm>
            <a:off x="8321040" y="3291840"/>
            <a:ext cx="3200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03  </a:t>
            </a:r>
            <a:r>
              <a:rPr b="1" lang="zh-CN" sz="1370" spc="-1" strike="noStrike">
                <a:solidFill>
                  <a:srgbClr val="17345b"/>
                </a:solidFill>
                <a:latin typeface="Microsoft YaHei"/>
                <a:ea typeface="Microsoft YaHei"/>
              </a:rPr>
              <a:t>结论—证据核验与安全兜底</a:t>
            </a:r>
            <a:endParaRPr b="0" lang="en-US" sz="1370" spc="-1" strike="noStrike">
              <a:latin typeface="Arial"/>
            </a:endParaRPr>
          </a:p>
        </p:txBody>
      </p:sp>
      <p:pic>
        <p:nvPicPr>
          <p:cNvPr id="324" name="Image 2" descr="/mnt/data/ppt_assets/safety.png"/>
          <p:cNvPicPr/>
          <p:nvPr/>
        </p:nvPicPr>
        <p:blipFill>
          <a:blip r:embed="rId3"/>
          <a:stretch/>
        </p:blipFill>
        <p:spPr>
          <a:xfrm>
            <a:off x="8293680" y="3749040"/>
            <a:ext cx="3236760" cy="1389600"/>
          </a:xfrm>
          <a:prstGeom prst="rect">
            <a:avLst/>
          </a:prstGeom>
          <a:ln>
            <a:noFill/>
          </a:ln>
        </p:spPr>
      </p:pic>
      <p:sp>
        <p:nvSpPr>
          <p:cNvPr id="325" name="CustomShape 31"/>
          <p:cNvSpPr/>
          <p:nvPr/>
        </p:nvSpPr>
        <p:spPr>
          <a:xfrm>
            <a:off x="8330040" y="5248800"/>
            <a:ext cx="31543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证据充分才回答 </a:t>
            </a:r>
            <a:r>
              <a:rPr b="0" lang="en-US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条件缺失先澄清 </a:t>
            </a:r>
            <a:r>
              <a:rPr b="0" lang="en-US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· </a:t>
            </a:r>
            <a:r>
              <a:rPr b="0" lang="zh-CN" sz="1000" spc="-1" strike="noStrike">
                <a:solidFill>
                  <a:srgbClr val="19304d"/>
                </a:solidFill>
                <a:latin typeface="Microsoft YaHei"/>
                <a:ea typeface="Microsoft YaHei"/>
              </a:rPr>
              <a:t>不确定转人工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6" name="CustomShape 32"/>
          <p:cNvSpPr/>
          <p:nvPr/>
        </p:nvSpPr>
        <p:spPr>
          <a:xfrm>
            <a:off x="10250280" y="5541120"/>
            <a:ext cx="1261440" cy="282960"/>
          </a:xfrm>
          <a:prstGeom prst="roundRect">
            <a:avLst>
              <a:gd name="adj" fmla="val 25806"/>
            </a:avLst>
          </a:prstGeom>
          <a:solidFill>
            <a:srgbClr val="fff0ef"/>
          </a:solidFill>
          <a:ln w="11520">
            <a:solidFill>
              <a:srgbClr val="fff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CustomShape 33"/>
          <p:cNvSpPr/>
          <p:nvPr/>
        </p:nvSpPr>
        <p:spPr>
          <a:xfrm>
            <a:off x="10351080" y="5568840"/>
            <a:ext cx="10602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zh-CN" sz="950" spc="-1" strike="noStrike">
                <a:solidFill>
                  <a:srgbClr val="bd5c59"/>
                </a:solidFill>
                <a:latin typeface="Microsoft YaHei"/>
                <a:ea typeface="Microsoft YaHei"/>
              </a:rPr>
              <a:t>可信创新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28" name="CustomShape 34"/>
          <p:cNvSpPr/>
          <p:nvPr/>
        </p:nvSpPr>
        <p:spPr>
          <a:xfrm>
            <a:off x="567000" y="6135480"/>
            <a:ext cx="11063880" cy="20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889" spc="-1" strike="noStrike">
                <a:solidFill>
                  <a:srgbClr val="687e98"/>
                </a:solidFill>
                <a:latin typeface="Microsoft YaHei"/>
                <a:ea typeface="Microsoft YaHei"/>
              </a:rPr>
              <a:t>实验边界：知识库耗时为隔离模拟环境，真实发布仍需版本核对、服务重启和问答回归；人工处理状态不代表已接通客服。</a:t>
            </a:r>
            <a:endParaRPr b="0" lang="en-US" sz="8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  <Words>0</Words>
  <Paragraphs>0</Paragraphs>
  <Company>OPEN-JS-01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2026-10-14T07:43:00Z</dcterms:created>
  <dc:creator>ChatGPT</dc:creator>
  <dc:description/>
  <dc:language>zh-CN</dc:language>
  <cp:lastModifiedBy>ChatGPT</cp:lastModifiedBy>
  <dcterms:modified xsi:type="dcterms:W3CDTF">2026-10-14T07:43:00Z</dcterms:modified>
  <cp:revision>1</cp:revision>
  <dc:subject>OPEN-JS-01 初赛</dc:subject>
  <dc:title>保险复杂咨询全双工语音Agent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OPEN-JS-01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6</vt:i4>
  </property>
  <property fmtid="{D5CDD505-2E9C-101B-9397-08002B2CF9AE}" pid="9" name="PresentationFormat">
    <vt:lpwstr>On-screen Show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6</vt:i4>
  </property>
</Properties>
</file>